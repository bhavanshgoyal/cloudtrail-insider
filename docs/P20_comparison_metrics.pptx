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7.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8.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9.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0.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34ca9dea-6a65-aeef-6e68-19d8011b7825}">
          <p14:sldIdLst>
            <p14:sldId id="256"/>
            <p14:sldId id="257"/>
            <p14:sldId id="258"/>
          </p14:sldIdLst>
        </p14:section>
        <p14:section name="Precision" id="{b0883683-441e-2510-fb1e-b5e3b33830d9}">
          <p14:sldIdLst>
            <p14:sldId id="259"/>
            <p14:sldId id="260"/>
            <p14:sldId id="261"/>
          </p14:sldIdLst>
        </p14:section>
        <p14:section name="Detection" id="{cc2ab8ab-868a-b39b-9184-d33b1a369e26}">
          <p14:sldIdLst>
            <p14:sldId id="262"/>
            <p14:sldId id="263"/>
            <p14:sldId id="264"/>
            <p14:sldId id="265"/>
            <p14:sldId id="266"/>
          </p14:sldIdLst>
        </p14:section>
        <p14:section name="Speed and cost" id="{5f7a761e-51a8-6520-3cc6-0df3fa43e44f}">
          <p14:sldIdLst>
            <p14:sldId id="267"/>
            <p14:sldId id="268"/>
            <p14:sldId id="269"/>
            <p14:sldId id="270"/>
          </p14:sldIdLst>
        </p14:section>
        <p14:section name="Why it works" id="{151f6f82-55e6-d302-3dde-1378787a991f}">
          <p14:sldIdLst>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3A4F"/>
                </a:solidFill>
                <a:latin typeface="+mn-lt"/>
              </a:defRPr>
            </a:pPr>
            <a:r>
              <a:rPr sz="1300" b="0" i="0" u="none" strike="noStrike">
                <a:solidFill>
                  <a:srgbClr val="2B3A4F"/>
                </a:solidFill>
                <a:latin typeface="+mn-lt"/>
              </a:rPr>
              <a:t>Share of alerts that are real (precision@10)</a:t>
            </a:r>
          </a:p>
        </c:rich>
      </c:tx>
      <c:layout/>
      <c:overlay val="0"/>
    </c:title>
    <c:autoTitleDeleted val="0"/>
    <c:plotArea>
      <c:layout/>
      <c:barChart>
        <c:barDir val="col"/>
        <c:grouping val="clustered"/>
        <c:varyColors val="0"/>
        <c:ser>
          <c:idx val="0"/>
          <c:order val="0"/>
          <c:tx>
            <c:strRef>
              <c:f>Sheet1!$B$1</c:f>
              <c:strCache>
                <c:ptCount val="1"/>
                <c:pt idx="0">
                  <c:v>Ours</c:v>
                </c:pt>
              </c:strCache>
            </c:strRef>
          </c:tx>
          <c:spPr>
            <a:solidFill>
              <a:srgbClr val="E39B2D"/>
            </a:solidFill>
            <a:effectLst/>
          </c:spPr>
          <c:invertIfNegative val="0"/>
          <c:dLbls>
            <c:numFmt formatCode="0.0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cat>
            <c:multiLvlStrRef>
              <c:f>Sheet1!$A$2:$A$6</c:f>
              <c:multiLvlStrCache>
                <c:ptCount val="5"/>
                <c:lvl>
                  <c:pt idx="0">
                    <c:v>Ours</c:v>
                  </c:pt>
                  <c:pt idx="1">
                    <c:v>Isolation Forest</c:v>
                  </c:pt>
                  <c:pt idx="2">
                    <c:v>LOF</c:v>
                  </c:pt>
                  <c:pt idx="3">
                    <c:v>Autoencoder</c:v>
                  </c:pt>
                  <c:pt idx="4">
                    <c:v>Rules</c:v>
                  </c:pt>
                </c:lvl>
              </c:multiLvlStrCache>
            </c:multiLvlStrRef>
          </c:cat>
          <c:val>
            <c:numRef>
              <c:f>Sheet1!$B$2:$B$6</c:f>
              <c:numCache>
                <c:formatCode>General</c:formatCode>
                <c:ptCount val="5"/>
                <c:pt idx="0">
                  <c:v>0.028</c:v>
                </c:pt>
                <c:pt idx="1">
                  <c:v>0</c:v>
                </c:pt>
                <c:pt idx="2">
                  <c:v>0</c:v>
                </c:pt>
                <c:pt idx="3">
                  <c:v>0</c:v>
                </c:pt>
                <c:pt idx="4">
                  <c:v>0</c:v>
                </c:pt>
              </c:numCache>
            </c:numRef>
          </c:val>
        </c:ser>
        <c:ser>
          <c:idx val="1"/>
          <c:order val="1"/>
          <c:tx>
            <c:strRef>
              <c:f>Sheet1!$C$1</c:f>
              <c:strCache>
                <c:ptCount val="1"/>
                <c:pt idx="0">
                  <c:v>Others</c:v>
                </c:pt>
              </c:strCache>
            </c:strRef>
          </c:tx>
          <c:spPr>
            <a:solidFill>
              <a:srgbClr val="8C97A8"/>
            </a:solidFill>
            <a:effectLst/>
          </c:spPr>
          <c:invertIfNegative val="0"/>
          <c:dLbls>
            <c:numFmt formatCode="0.0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cat>
            <c:multiLvlStrRef>
              <c:f>Sheet1!$A$2:$A$6</c:f>
              <c:multiLvlStrCache>
                <c:ptCount val="5"/>
                <c:lvl>
                  <c:pt idx="0">
                    <c:v>Ours</c:v>
                  </c:pt>
                  <c:pt idx="1">
                    <c:v>Isolation Forest</c:v>
                  </c:pt>
                  <c:pt idx="2">
                    <c:v>LOF</c:v>
                  </c:pt>
                  <c:pt idx="3">
                    <c:v>Autoencoder</c:v>
                  </c:pt>
                  <c:pt idx="4">
                    <c:v>Rules</c:v>
                  </c:pt>
                </c:lvl>
              </c:multiLvlStrCache>
            </c:multiLvlStrRef>
          </c:cat>
          <c:val>
            <c:numRef>
              <c:f>Sheet1!$C$2:$C$6</c:f>
              <c:numCache>
                <c:formatCode>General</c:formatCode>
                <c:ptCount val="5"/>
                <c:pt idx="0">
                  <c:v>0</c:v>
                </c:pt>
                <c:pt idx="1">
                  <c:v>0.007</c:v>
                </c:pt>
                <c:pt idx="2">
                  <c:v>0.014</c:v>
                </c:pt>
                <c:pt idx="3">
                  <c:v>0.011</c:v>
                </c:pt>
                <c:pt idx="4">
                  <c:v>0.01</c:v>
                </c:pt>
              </c:numCache>
            </c:numRef>
          </c:val>
        </c:ser>
        <c:dLbls>
          <c:numFmt formatCode="0.0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A4F"/>
                </a:solidFill>
                <a:latin typeface="+mn-lt"/>
              </a:defRPr>
            </a:pPr>
            <a:endParaRPr lang="en-US"/>
          </a:p>
        </c:txPr>
        <c:crossAx val="2094734552"/>
        <c:crosses val="autoZero"/>
        <c:auto val="1"/>
        <c:lblAlgn val="ctr"/>
        <c:noMultiLvlLbl val="1"/>
      </c:catAx>
      <c:valAx>
        <c:axId val="2094734552"/>
        <c:scaling>
          <c:orientation val="minMax"/>
          <c:max val="0.035"/>
          <c:min val="0"/>
        </c:scaling>
        <c:delete val="0"/>
        <c:axPos val="l"/>
        <c:majorGridlines>
          <c:spPr>
            <a:ln w="6350" cap="flat">
              <a:solidFill>
                <a:srgbClr val="DDE2E8"/>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B3A4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Ours</c:v>
                </c:pt>
              </c:strCache>
            </c:strRef>
          </c:tx>
          <c:spPr>
            <a:solidFill>
              <a:srgbClr val="E39B2D"/>
            </a:solidFill>
            <a:effectLst/>
          </c:spPr>
          <c:invertIfNegative val="0"/>
          <c:dLbls>
            <c:numFmt formatCode="0.000" sourceLinked="0"/>
            <c:txPr>
              <a:bodyPr/>
              <a:lstStyle/>
              <a:p>
                <a:pPr>
                  <a:defRPr b="0" i="0" strike="noStrike" sz="900" u="none">
                    <a:solidFill>
                      <a:srgbClr val="16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10 alerts/day</c:v>
                  </c:pt>
                  <c:pt idx="1">
                    <c:v>50 alerts/day</c:v>
                  </c:pt>
                  <c:pt idx="2">
                    <c:v>100 alerts/day</c:v>
                  </c:pt>
                </c:lvl>
              </c:multiLvlStrCache>
            </c:multiLvlStrRef>
          </c:cat>
          <c:val>
            <c:numRef>
              <c:f>Sheet1!$B$2:$B$4</c:f>
              <c:numCache>
                <c:formatCode>General</c:formatCode>
                <c:ptCount val="3"/>
                <c:pt idx="0">
                  <c:v>0.028</c:v>
                </c:pt>
                <c:pt idx="1">
                  <c:v>0.019</c:v>
                </c:pt>
                <c:pt idx="2">
                  <c:v>0.015</c:v>
                </c:pt>
              </c:numCache>
            </c:numRef>
          </c:val>
        </c:ser>
        <c:ser>
          <c:idx val="1"/>
          <c:order val="1"/>
          <c:tx>
            <c:strRef>
              <c:f>Sheet1!$C$1</c:f>
              <c:strCache>
                <c:ptCount val="1"/>
                <c:pt idx="0">
                  <c:v>Isolation Forest</c:v>
                </c:pt>
              </c:strCache>
            </c:strRef>
          </c:tx>
          <c:spPr>
            <a:solidFill>
              <a:srgbClr val="3F6496"/>
            </a:solidFill>
            <a:effectLst/>
          </c:spPr>
          <c:invertIfNegative val="0"/>
          <c:dLbls>
            <c:numFmt formatCode="0.000" sourceLinked="0"/>
            <c:txPr>
              <a:bodyPr/>
              <a:lstStyle/>
              <a:p>
                <a:pPr>
                  <a:defRPr b="0" i="0" strike="noStrike" sz="900" u="none">
                    <a:solidFill>
                      <a:srgbClr val="16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10 alerts/day</c:v>
                  </c:pt>
                  <c:pt idx="1">
                    <c:v>50 alerts/day</c:v>
                  </c:pt>
                  <c:pt idx="2">
                    <c:v>100 alerts/day</c:v>
                  </c:pt>
                </c:lvl>
              </c:multiLvlStrCache>
            </c:multiLvlStrRef>
          </c:cat>
          <c:val>
            <c:numRef>
              <c:f>Sheet1!$C$2:$C$4</c:f>
              <c:numCache>
                <c:formatCode>General</c:formatCode>
                <c:ptCount val="3"/>
                <c:pt idx="0">
                  <c:v>0.007</c:v>
                </c:pt>
                <c:pt idx="1">
                  <c:v>0.004</c:v>
                </c:pt>
                <c:pt idx="2">
                  <c:v>0.006</c:v>
                </c:pt>
              </c:numCache>
            </c:numRef>
          </c:val>
        </c:ser>
        <c:ser>
          <c:idx val="2"/>
          <c:order val="2"/>
          <c:tx>
            <c:strRef>
              <c:f>Sheet1!$D$1</c:f>
              <c:strCache>
                <c:ptCount val="1"/>
                <c:pt idx="0">
                  <c:v>LOF</c:v>
                </c:pt>
              </c:strCache>
            </c:strRef>
          </c:tx>
          <c:spPr>
            <a:solidFill>
              <a:srgbClr val="6F93BF"/>
            </a:solidFill>
            <a:effectLst/>
          </c:spPr>
          <c:invertIfNegative val="0"/>
          <c:dLbls>
            <c:numFmt formatCode="0.000" sourceLinked="0"/>
            <c:txPr>
              <a:bodyPr/>
              <a:lstStyle/>
              <a:p>
                <a:pPr>
                  <a:defRPr b="0" i="0" strike="noStrike" sz="900" u="none">
                    <a:solidFill>
                      <a:srgbClr val="16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10 alerts/day</c:v>
                  </c:pt>
                  <c:pt idx="1">
                    <c:v>50 alerts/day</c:v>
                  </c:pt>
                  <c:pt idx="2">
                    <c:v>100 alerts/day</c:v>
                  </c:pt>
                </c:lvl>
              </c:multiLvlStrCache>
            </c:multiLvlStrRef>
          </c:cat>
          <c:val>
            <c:numRef>
              <c:f>Sheet1!$D$2:$D$4</c:f>
              <c:numCache>
                <c:formatCode>General</c:formatCode>
                <c:ptCount val="3"/>
                <c:pt idx="0">
                  <c:v>0.014</c:v>
                </c:pt>
                <c:pt idx="1">
                  <c:v>0.011</c:v>
                </c:pt>
                <c:pt idx="2">
                  <c:v>0.011</c:v>
                </c:pt>
              </c:numCache>
            </c:numRef>
          </c:val>
        </c:ser>
        <c:ser>
          <c:idx val="3"/>
          <c:order val="3"/>
          <c:tx>
            <c:strRef>
              <c:f>Sheet1!$E$1</c:f>
              <c:strCache>
                <c:ptCount val="1"/>
                <c:pt idx="0">
                  <c:v>Autoencoder</c:v>
                </c:pt>
              </c:strCache>
            </c:strRef>
          </c:tx>
          <c:spPr>
            <a:solidFill>
              <a:srgbClr val="8A9AB0"/>
            </a:solidFill>
            <a:effectLst/>
          </c:spPr>
          <c:invertIfNegative val="0"/>
          <c:dLbls>
            <c:numFmt formatCode="0.000" sourceLinked="0"/>
            <c:txPr>
              <a:bodyPr/>
              <a:lstStyle/>
              <a:p>
                <a:pPr>
                  <a:defRPr b="0" i="0" strike="noStrike" sz="900" u="none">
                    <a:solidFill>
                      <a:srgbClr val="16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10 alerts/day</c:v>
                  </c:pt>
                  <c:pt idx="1">
                    <c:v>50 alerts/day</c:v>
                  </c:pt>
                  <c:pt idx="2">
                    <c:v>100 alerts/day</c:v>
                  </c:pt>
                </c:lvl>
              </c:multiLvlStrCache>
            </c:multiLvlStrRef>
          </c:cat>
          <c:val>
            <c:numRef>
              <c:f>Sheet1!$E$2:$E$4</c:f>
              <c:numCache>
                <c:formatCode>General</c:formatCode>
                <c:ptCount val="3"/>
                <c:pt idx="0">
                  <c:v>0.011</c:v>
                </c:pt>
                <c:pt idx="1">
                  <c:v>0.009</c:v>
                </c:pt>
                <c:pt idx="2">
                  <c:v>0.009</c:v>
                </c:pt>
              </c:numCache>
            </c:numRef>
          </c:val>
        </c:ser>
        <c:ser>
          <c:idx val="4"/>
          <c:order val="4"/>
          <c:tx>
            <c:strRef>
              <c:f>Sheet1!$F$1</c:f>
              <c:strCache>
                <c:ptCount val="1"/>
                <c:pt idx="0">
                  <c:v>Rules</c:v>
                </c:pt>
              </c:strCache>
            </c:strRef>
          </c:tx>
          <c:spPr>
            <a:solidFill>
              <a:srgbClr val="C5CCD6"/>
            </a:solidFill>
            <a:effectLst/>
          </c:spPr>
          <c:invertIfNegative val="0"/>
          <c:dLbls>
            <c:numFmt formatCode="0.000" sourceLinked="0"/>
            <c:txPr>
              <a:bodyPr/>
              <a:lstStyle/>
              <a:p>
                <a:pPr>
                  <a:defRPr b="0" i="0" strike="noStrike" sz="900" u="none">
                    <a:solidFill>
                      <a:srgbClr val="16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10 alerts/day</c:v>
                  </c:pt>
                  <c:pt idx="1">
                    <c:v>50 alerts/day</c:v>
                  </c:pt>
                  <c:pt idx="2">
                    <c:v>100 alerts/day</c:v>
                  </c:pt>
                </c:lvl>
              </c:multiLvlStrCache>
            </c:multiLvlStrRef>
          </c:cat>
          <c:val>
            <c:numRef>
              <c:f>Sheet1!$F$2:$F$4</c:f>
              <c:numCache>
                <c:formatCode>General</c:formatCode>
                <c:ptCount val="3"/>
                <c:pt idx="0">
                  <c:v>0.01</c:v>
                </c:pt>
                <c:pt idx="1">
                  <c:v>0.006</c:v>
                </c:pt>
                <c:pt idx="2">
                  <c:v>0.004</c:v>
                </c:pt>
              </c:numCache>
            </c:numRef>
          </c:val>
        </c:ser>
        <c:dLbls>
          <c:numFmt formatCode="0.000" sourceLinked="0"/>
          <c:txPr>
            <a:bodyPr/>
            <a:lstStyle/>
            <a:p>
              <a:pPr>
                <a:defRPr b="0" i="0" strike="noStrike" sz="900" u="none">
                  <a:solidFill>
                    <a:srgbClr val="16202E"/>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A4F"/>
                </a:solidFill>
                <a:latin typeface="+mn-lt"/>
              </a:defRPr>
            </a:pPr>
            <a:endParaRPr lang="en-US"/>
          </a:p>
        </c:txPr>
        <c:crossAx val="2094734552"/>
        <c:crosses val="autoZero"/>
        <c:auto val="1"/>
        <c:lblAlgn val="ctr"/>
        <c:noMultiLvlLbl val="1"/>
      </c:catAx>
      <c:valAx>
        <c:axId val="2094734552"/>
        <c:scaling>
          <c:orientation val="minMax"/>
          <c:max val="0.032"/>
          <c:min val="0"/>
        </c:scaling>
        <c:delete val="0"/>
        <c:axPos val="l"/>
        <c:majorGridlines>
          <c:spPr>
            <a:ln w="6350" cap="flat">
              <a:solidFill>
                <a:srgbClr val="DDE2E8"/>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B3A4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3A4F"/>
                </a:solidFill>
                <a:latin typeface="+mn-lt"/>
              </a:defRPr>
            </a:pPr>
            <a:r>
              <a:rPr sz="1300" b="0" i="0" u="none" strike="noStrike">
                <a:solidFill>
                  <a:srgbClr val="2B3A4F"/>
                </a:solidFill>
                <a:latin typeface="+mn-lt"/>
              </a:rPr>
              <a:t>Share of insiders caught (DR@10)</a:t>
            </a:r>
          </a:p>
        </c:rich>
      </c:tx>
      <c:layout/>
      <c:overlay val="0"/>
    </c:title>
    <c:autoTitleDeleted val="0"/>
    <c:plotArea>
      <c:layout/>
      <c:barChart>
        <c:barDir val="col"/>
        <c:grouping val="clustered"/>
        <c:varyColors val="0"/>
        <c:ser>
          <c:idx val="0"/>
          <c:order val="0"/>
          <c:tx>
            <c:strRef>
              <c:f>Sheet1!$B$1</c:f>
              <c:strCache>
                <c:ptCount val="1"/>
                <c:pt idx="0">
                  <c:v>Ours</c:v>
                </c:pt>
              </c:strCache>
            </c:strRef>
          </c:tx>
          <c:spPr>
            <a:solidFill>
              <a:srgbClr val="E39B2D"/>
            </a:solidFill>
            <a:effectLst/>
          </c:spPr>
          <c:invertIfNegative val="0"/>
          <c:dLbls>
            <c:numFmt formatCode="0.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cat>
            <c:multiLvlStrRef>
              <c:f>Sheet1!$A$2:$A$6</c:f>
              <c:multiLvlStrCache>
                <c:ptCount val="5"/>
                <c:lvl>
                  <c:pt idx="0">
                    <c:v>Ours</c:v>
                  </c:pt>
                  <c:pt idx="1">
                    <c:v>Isolation Forest</c:v>
                  </c:pt>
                  <c:pt idx="2">
                    <c:v>LOF</c:v>
                  </c:pt>
                  <c:pt idx="3">
                    <c:v>Autoencoder</c:v>
                  </c:pt>
                  <c:pt idx="4">
                    <c:v>Rules</c:v>
                  </c:pt>
                </c:lvl>
              </c:multiLvlStrCache>
            </c:multiLvlStrRef>
          </c:cat>
          <c:val>
            <c:numRef>
              <c:f>Sheet1!$B$2:$B$6</c:f>
              <c:numCache>
                <c:formatCode>General</c:formatCode>
                <c:ptCount val="5"/>
                <c:pt idx="0">
                  <c:v>0.434</c:v>
                </c:pt>
                <c:pt idx="1">
                  <c:v>0</c:v>
                </c:pt>
                <c:pt idx="2">
                  <c:v>0</c:v>
                </c:pt>
                <c:pt idx="3">
                  <c:v>0</c:v>
                </c:pt>
                <c:pt idx="4">
                  <c:v>0</c:v>
                </c:pt>
              </c:numCache>
            </c:numRef>
          </c:val>
        </c:ser>
        <c:ser>
          <c:idx val="1"/>
          <c:order val="1"/>
          <c:tx>
            <c:strRef>
              <c:f>Sheet1!$C$1</c:f>
              <c:strCache>
                <c:ptCount val="1"/>
                <c:pt idx="0">
                  <c:v>Others</c:v>
                </c:pt>
              </c:strCache>
            </c:strRef>
          </c:tx>
          <c:spPr>
            <a:solidFill>
              <a:srgbClr val="8C97A8"/>
            </a:solidFill>
            <a:effectLst/>
          </c:spPr>
          <c:invertIfNegative val="0"/>
          <c:dLbls>
            <c:numFmt formatCode="0.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cat>
            <c:multiLvlStrRef>
              <c:f>Sheet1!$A$2:$A$6</c:f>
              <c:multiLvlStrCache>
                <c:ptCount val="5"/>
                <c:lvl>
                  <c:pt idx="0">
                    <c:v>Ours</c:v>
                  </c:pt>
                  <c:pt idx="1">
                    <c:v>Isolation Forest</c:v>
                  </c:pt>
                  <c:pt idx="2">
                    <c:v>LOF</c:v>
                  </c:pt>
                  <c:pt idx="3">
                    <c:v>Autoencoder</c:v>
                  </c:pt>
                  <c:pt idx="4">
                    <c:v>Rules</c:v>
                  </c:pt>
                </c:lvl>
              </c:multiLvlStrCache>
            </c:multiLvlStrRef>
          </c:cat>
          <c:val>
            <c:numRef>
              <c:f>Sheet1!$C$2:$C$6</c:f>
              <c:numCache>
                <c:formatCode>General</c:formatCode>
                <c:ptCount val="5"/>
                <c:pt idx="0">
                  <c:v>0</c:v>
                </c:pt>
                <c:pt idx="1">
                  <c:v>0.284</c:v>
                </c:pt>
                <c:pt idx="2">
                  <c:v>0.455</c:v>
                </c:pt>
                <c:pt idx="3">
                  <c:v>0.443</c:v>
                </c:pt>
                <c:pt idx="4">
                  <c:v>0.288</c:v>
                </c:pt>
              </c:numCache>
            </c:numRef>
          </c:val>
        </c:ser>
        <c:dLbls>
          <c:numFmt formatCode="0.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A4F"/>
                </a:solidFill>
                <a:latin typeface="+mn-lt"/>
              </a:defRPr>
            </a:pPr>
            <a:endParaRPr lang="en-US"/>
          </a:p>
        </c:txPr>
        <c:crossAx val="2094734552"/>
        <c:crosses val="autoZero"/>
        <c:auto val="1"/>
        <c:lblAlgn val="ctr"/>
        <c:noMultiLvlLbl val="1"/>
      </c:catAx>
      <c:valAx>
        <c:axId val="2094734552"/>
        <c:scaling>
          <c:orientation val="minMax"/>
          <c:max val="0.6"/>
          <c:min val="0"/>
        </c:scaling>
        <c:delete val="0"/>
        <c:axPos val="l"/>
        <c:majorGridlines>
          <c:spPr>
            <a:ln w="6350" cap="flat">
              <a:solidFill>
                <a:srgbClr val="DDE2E8"/>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B3A4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Ours</c:v>
                </c:pt>
              </c:strCache>
            </c:strRef>
          </c:tx>
          <c:spPr>
            <a:solidFill>
              <a:srgbClr val="E39B2D"/>
            </a:solidFill>
            <a:ln w="38100" cap="flat">
              <a:solidFill>
                <a:srgbClr val="E39B2D"/>
              </a:solidFill>
              <a:prstDash val="solid"/>
              <a:round/>
            </a:ln>
            <a:effectLst/>
          </c:spPr>
          <c:invertIfNegative val="0"/>
          <c:dLbls>
            <c:numFmt formatCode="#,##0" sourceLinked="0"/>
            <c:txPr>
              <a:bodyPr/>
              <a:lstStyle/>
              <a:p>
                <a:pPr>
                  <a:defRPr b="0" i="0" strike="noStrike" sz="1100" u="none">
                    <a:solidFill>
                      <a:srgbClr val="16202E"/>
                    </a:solidFill>
                    <a:latin typeface="+mn-lt"/>
                  </a:defRPr>
                </a:pPr>
              </a:p>
            </c:txPr>
            <c:showLegendKey val="0"/>
            <c:showVal val="0"/>
            <c:showCatName val="0"/>
            <c:showSerName val="0"/>
            <c:showPercent val="0"/>
            <c:showBubbleSize val="0"/>
            <c:showLeaderLines val="0"/>
          </c:dLbls>
          <c:marker>
            <c:symbol val="circle"/>
            <c:size val="9"/>
            <c:spPr>
              <a:solidFill>
                <a:srgbClr val="E39B2D"/>
              </a:solidFill>
              <a:ln w="9525" cap="flat">
                <a:solidFill>
                  <a:srgbClr val="E39B2D"/>
                </a:solidFill>
                <a:prstDash val="solid"/>
                <a:round/>
              </a:ln>
              <a:effectLst/>
            </c:spPr>
          </c:marker>
          <c:cat>
            <c:multiLvlStrRef>
              <c:f>Sheet1!$A$2:$A$4</c:f>
              <c:multiLvlStrCache>
                <c:ptCount val="3"/>
                <c:lvl>
                  <c:pt idx="0">
                    <c:v>10</c:v>
                  </c:pt>
                  <c:pt idx="1">
                    <c:v>50</c:v>
                  </c:pt>
                  <c:pt idx="2">
                    <c:v>100</c:v>
                  </c:pt>
                </c:lvl>
              </c:multiLvlStrCache>
            </c:multiLvlStrRef>
          </c:cat>
          <c:val>
            <c:numRef>
              <c:f>Sheet1!$B$2:$B$4</c:f>
              <c:numCache>
                <c:formatCode>General</c:formatCode>
                <c:ptCount val="3"/>
                <c:pt idx="0">
                  <c:v>0.434</c:v>
                </c:pt>
                <c:pt idx="1">
                  <c:v>0.919</c:v>
                </c:pt>
                <c:pt idx="2">
                  <c:v>0.929</c:v>
                </c:pt>
              </c:numCache>
            </c:numRef>
          </c:val>
          <c:smooth val="0"/>
        </c:ser>
        <c:ser>
          <c:idx val="1"/>
          <c:order val="1"/>
          <c:tx>
            <c:strRef>
              <c:f>Sheet1!$C$1</c:f>
              <c:strCache>
                <c:ptCount val="1"/>
                <c:pt idx="0">
                  <c:v>Isolation Forest</c:v>
                </c:pt>
              </c:strCache>
            </c:strRef>
          </c:tx>
          <c:spPr>
            <a:solidFill>
              <a:srgbClr val="3F6496"/>
            </a:solidFill>
            <a:ln w="38100" cap="flat">
              <a:solidFill>
                <a:srgbClr val="3F6496"/>
              </a:solidFill>
              <a:prstDash val="solid"/>
              <a:round/>
            </a:ln>
            <a:effectLst/>
          </c:spPr>
          <c:invertIfNegative val="0"/>
          <c:dLbls>
            <c:numFmt formatCode="#,##0" sourceLinked="0"/>
            <c:txPr>
              <a:bodyPr/>
              <a:lstStyle/>
              <a:p>
                <a:pPr>
                  <a:defRPr b="0" i="0" strike="noStrike" sz="1100" u="none">
                    <a:solidFill>
                      <a:srgbClr val="16202E"/>
                    </a:solidFill>
                    <a:latin typeface="+mn-lt"/>
                  </a:defRPr>
                </a:pPr>
              </a:p>
            </c:txPr>
            <c:showLegendKey val="0"/>
            <c:showVal val="0"/>
            <c:showCatName val="0"/>
            <c:showSerName val="0"/>
            <c:showPercent val="0"/>
            <c:showBubbleSize val="0"/>
            <c:showLeaderLines val="0"/>
          </c:dLbls>
          <c:marker>
            <c:symbol val="circle"/>
            <c:size val="9"/>
            <c:spPr>
              <a:solidFill>
                <a:srgbClr val="3F6496"/>
              </a:solidFill>
              <a:ln w="9525" cap="flat">
                <a:solidFill>
                  <a:srgbClr val="3F6496"/>
                </a:solidFill>
                <a:prstDash val="solid"/>
                <a:round/>
              </a:ln>
              <a:effectLst/>
            </c:spPr>
          </c:marker>
          <c:cat>
            <c:multiLvlStrRef>
              <c:f>Sheet1!$A$2:$A$4</c:f>
              <c:multiLvlStrCache>
                <c:ptCount val="3"/>
                <c:lvl>
                  <c:pt idx="0">
                    <c:v>10</c:v>
                  </c:pt>
                  <c:pt idx="1">
                    <c:v>50</c:v>
                  </c:pt>
                  <c:pt idx="2">
                    <c:v>100</c:v>
                  </c:pt>
                </c:lvl>
              </c:multiLvlStrCache>
            </c:multiLvlStrRef>
          </c:cat>
          <c:val>
            <c:numRef>
              <c:f>Sheet1!$C$2:$C$4</c:f>
              <c:numCache>
                <c:formatCode>General</c:formatCode>
                <c:ptCount val="3"/>
                <c:pt idx="0">
                  <c:v>0.284</c:v>
                </c:pt>
                <c:pt idx="1">
                  <c:v>0.651</c:v>
                </c:pt>
                <c:pt idx="2">
                  <c:v>0.947</c:v>
                </c:pt>
              </c:numCache>
            </c:numRef>
          </c:val>
          <c:smooth val="0"/>
        </c:ser>
        <c:ser>
          <c:idx val="2"/>
          <c:order val="2"/>
          <c:tx>
            <c:strRef>
              <c:f>Sheet1!$D$1</c:f>
              <c:strCache>
                <c:ptCount val="1"/>
                <c:pt idx="0">
                  <c:v>LOF</c:v>
                </c:pt>
              </c:strCache>
            </c:strRef>
          </c:tx>
          <c:spPr>
            <a:solidFill>
              <a:srgbClr val="6F93BF"/>
            </a:solidFill>
            <a:ln w="38100" cap="flat">
              <a:solidFill>
                <a:srgbClr val="6F93BF"/>
              </a:solidFill>
              <a:prstDash val="solid"/>
              <a:round/>
            </a:ln>
            <a:effectLst/>
          </c:spPr>
          <c:invertIfNegative val="0"/>
          <c:dLbls>
            <c:numFmt formatCode="#,##0" sourceLinked="0"/>
            <c:txPr>
              <a:bodyPr/>
              <a:lstStyle/>
              <a:p>
                <a:pPr>
                  <a:defRPr b="0" i="0" strike="noStrike" sz="1100" u="none">
                    <a:solidFill>
                      <a:srgbClr val="16202E"/>
                    </a:solidFill>
                    <a:latin typeface="+mn-lt"/>
                  </a:defRPr>
                </a:pPr>
              </a:p>
            </c:txPr>
            <c:showLegendKey val="0"/>
            <c:showVal val="0"/>
            <c:showCatName val="0"/>
            <c:showSerName val="0"/>
            <c:showPercent val="0"/>
            <c:showBubbleSize val="0"/>
            <c:showLeaderLines val="0"/>
          </c:dLbls>
          <c:marker>
            <c:symbol val="circle"/>
            <c:size val="9"/>
            <c:spPr>
              <a:solidFill>
                <a:srgbClr val="6F93BF"/>
              </a:solidFill>
              <a:ln w="9525" cap="flat">
                <a:solidFill>
                  <a:srgbClr val="6F93BF"/>
                </a:solidFill>
                <a:prstDash val="solid"/>
                <a:round/>
              </a:ln>
              <a:effectLst/>
            </c:spPr>
          </c:marker>
          <c:cat>
            <c:multiLvlStrRef>
              <c:f>Sheet1!$A$2:$A$4</c:f>
              <c:multiLvlStrCache>
                <c:ptCount val="3"/>
                <c:lvl>
                  <c:pt idx="0">
                    <c:v>10</c:v>
                  </c:pt>
                  <c:pt idx="1">
                    <c:v>50</c:v>
                  </c:pt>
                  <c:pt idx="2">
                    <c:v>100</c:v>
                  </c:pt>
                </c:lvl>
              </c:multiLvlStrCache>
            </c:multiLvlStrRef>
          </c:cat>
          <c:val>
            <c:numRef>
              <c:f>Sheet1!$D$2:$D$4</c:f>
              <c:numCache>
                <c:formatCode>General</c:formatCode>
                <c:ptCount val="3"/>
                <c:pt idx="0">
                  <c:v>0.455</c:v>
                </c:pt>
                <c:pt idx="1">
                  <c:v>0.768</c:v>
                </c:pt>
                <c:pt idx="2">
                  <c:v>0.843</c:v>
                </c:pt>
              </c:numCache>
            </c:numRef>
          </c:val>
          <c:smooth val="0"/>
        </c:ser>
        <c:ser>
          <c:idx val="3"/>
          <c:order val="3"/>
          <c:tx>
            <c:strRef>
              <c:f>Sheet1!$E$1</c:f>
              <c:strCache>
                <c:ptCount val="1"/>
                <c:pt idx="0">
                  <c:v>Autoencoder</c:v>
                </c:pt>
              </c:strCache>
            </c:strRef>
          </c:tx>
          <c:spPr>
            <a:solidFill>
              <a:srgbClr val="8A9AB0"/>
            </a:solidFill>
            <a:ln w="38100" cap="flat">
              <a:solidFill>
                <a:srgbClr val="8A9AB0"/>
              </a:solidFill>
              <a:prstDash val="solid"/>
              <a:round/>
            </a:ln>
            <a:effectLst/>
          </c:spPr>
          <c:invertIfNegative val="0"/>
          <c:dLbls>
            <c:numFmt formatCode="#,##0" sourceLinked="0"/>
            <c:txPr>
              <a:bodyPr/>
              <a:lstStyle/>
              <a:p>
                <a:pPr>
                  <a:defRPr b="0" i="0" strike="noStrike" sz="1100" u="none">
                    <a:solidFill>
                      <a:srgbClr val="16202E"/>
                    </a:solidFill>
                    <a:latin typeface="+mn-lt"/>
                  </a:defRPr>
                </a:pPr>
              </a:p>
            </c:txPr>
            <c:showLegendKey val="0"/>
            <c:showVal val="0"/>
            <c:showCatName val="0"/>
            <c:showSerName val="0"/>
            <c:showPercent val="0"/>
            <c:showBubbleSize val="0"/>
            <c:showLeaderLines val="0"/>
          </c:dLbls>
          <c:marker>
            <c:symbol val="circle"/>
            <c:size val="9"/>
            <c:spPr>
              <a:solidFill>
                <a:srgbClr val="8A9AB0"/>
              </a:solidFill>
              <a:ln w="9525" cap="flat">
                <a:solidFill>
                  <a:srgbClr val="8A9AB0"/>
                </a:solidFill>
                <a:prstDash val="solid"/>
                <a:round/>
              </a:ln>
              <a:effectLst/>
            </c:spPr>
          </c:marker>
          <c:cat>
            <c:multiLvlStrRef>
              <c:f>Sheet1!$A$2:$A$4</c:f>
              <c:multiLvlStrCache>
                <c:ptCount val="3"/>
                <c:lvl>
                  <c:pt idx="0">
                    <c:v>10</c:v>
                  </c:pt>
                  <c:pt idx="1">
                    <c:v>50</c:v>
                  </c:pt>
                  <c:pt idx="2">
                    <c:v>100</c:v>
                  </c:pt>
                </c:lvl>
              </c:multiLvlStrCache>
            </c:multiLvlStrRef>
          </c:cat>
          <c:val>
            <c:numRef>
              <c:f>Sheet1!$E$2:$E$4</c:f>
              <c:numCache>
                <c:formatCode>General</c:formatCode>
                <c:ptCount val="3"/>
                <c:pt idx="0">
                  <c:v>0.443</c:v>
                </c:pt>
                <c:pt idx="1">
                  <c:v>0.776</c:v>
                </c:pt>
                <c:pt idx="2">
                  <c:v>0.892</c:v>
                </c:pt>
              </c:numCache>
            </c:numRef>
          </c:val>
          <c:smooth val="0"/>
        </c:ser>
        <c:ser>
          <c:idx val="4"/>
          <c:order val="4"/>
          <c:tx>
            <c:strRef>
              <c:f>Sheet1!$F$1</c:f>
              <c:strCache>
                <c:ptCount val="1"/>
                <c:pt idx="0">
                  <c:v>Rules</c:v>
                </c:pt>
              </c:strCache>
            </c:strRef>
          </c:tx>
          <c:spPr>
            <a:solidFill>
              <a:srgbClr val="C5CCD6"/>
            </a:solidFill>
            <a:ln w="38100" cap="flat">
              <a:solidFill>
                <a:srgbClr val="C5CCD6"/>
              </a:solidFill>
              <a:prstDash val="solid"/>
              <a:round/>
            </a:ln>
            <a:effectLst/>
          </c:spPr>
          <c:invertIfNegative val="0"/>
          <c:dLbls>
            <c:numFmt formatCode="#,##0" sourceLinked="0"/>
            <c:txPr>
              <a:bodyPr/>
              <a:lstStyle/>
              <a:p>
                <a:pPr>
                  <a:defRPr b="0" i="0" strike="noStrike" sz="1100" u="none">
                    <a:solidFill>
                      <a:srgbClr val="16202E"/>
                    </a:solidFill>
                    <a:latin typeface="+mn-lt"/>
                  </a:defRPr>
                </a:pPr>
              </a:p>
            </c:txPr>
            <c:showLegendKey val="0"/>
            <c:showVal val="0"/>
            <c:showCatName val="0"/>
            <c:showSerName val="0"/>
            <c:showPercent val="0"/>
            <c:showBubbleSize val="0"/>
            <c:showLeaderLines val="0"/>
          </c:dLbls>
          <c:marker>
            <c:symbol val="circle"/>
            <c:size val="9"/>
            <c:spPr>
              <a:solidFill>
                <a:srgbClr val="C5CCD6"/>
              </a:solidFill>
              <a:ln w="9525" cap="flat">
                <a:solidFill>
                  <a:srgbClr val="C5CCD6"/>
                </a:solidFill>
                <a:prstDash val="solid"/>
                <a:round/>
              </a:ln>
              <a:effectLst/>
            </c:spPr>
          </c:marker>
          <c:cat>
            <c:multiLvlStrRef>
              <c:f>Sheet1!$A$2:$A$4</c:f>
              <c:multiLvlStrCache>
                <c:ptCount val="3"/>
                <c:lvl>
                  <c:pt idx="0">
                    <c:v>10</c:v>
                  </c:pt>
                  <c:pt idx="1">
                    <c:v>50</c:v>
                  </c:pt>
                  <c:pt idx="2">
                    <c:v>100</c:v>
                  </c:pt>
                </c:lvl>
              </c:multiLvlStrCache>
            </c:multiLvlStrRef>
          </c:cat>
          <c:val>
            <c:numRef>
              <c:f>Sheet1!$F$2:$F$4</c:f>
              <c:numCache>
                <c:formatCode>General</c:formatCode>
                <c:ptCount val="3"/>
                <c:pt idx="0">
                  <c:v>0.288</c:v>
                </c:pt>
                <c:pt idx="1">
                  <c:v>0.485</c:v>
                </c:pt>
                <c:pt idx="2">
                  <c:v>0.547</c:v>
                </c:pt>
              </c:numCache>
            </c:numRef>
          </c:val>
          <c:smooth val="0"/>
        </c:ser>
        <c:dLbls>
          <c:numFmt formatCode="#,##0" sourceLinked="0"/>
          <c:txPr>
            <a:bodyPr/>
            <a:lstStyle/>
            <a:p>
              <a:pPr>
                <a:defRPr b="0" i="0" strike="noStrike" sz="1100" u="none">
                  <a:solidFill>
                    <a:srgbClr val="16202E"/>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2B3A4F"/>
                    </a:solidFill>
                    <a:latin typeface="Arial"/>
                  </a:defRPr>
                </a:pPr>
                <a:r>
                  <a:rPr sz="1200" b="0" i="0" u="none" strike="noStrike">
                    <a:solidFill>
                      <a:srgbClr val="2B3A4F"/>
                    </a:solidFill>
                    <a:latin typeface="Arial"/>
                  </a:rPr>
                  <a:t>Alerts per day</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A4F"/>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DE2E8"/>
              </a:solidFill>
              <a:prstDash val="solid"/>
              <a:round/>
            </a:ln>
          </c:spPr>
        </c:majorGridlines>
        <c:title>
          <c:tx>
            <c:rich>
              <a:bodyPr/>
              <a:lstStyle/>
              <a:p>
                <a:pPr>
                  <a:defRPr sz="1200" b="0" i="0" u="none" strike="noStrike">
                    <a:solidFill>
                      <a:srgbClr val="2B3A4F"/>
                    </a:solidFill>
                    <a:latin typeface="Arial"/>
                  </a:defRPr>
                </a:pPr>
                <a:r>
                  <a:rPr sz="1200" b="0" i="0" u="none" strike="noStrike">
                    <a:solidFill>
                      <a:srgbClr val="2B3A4F"/>
                    </a:solidFill>
                    <a:latin typeface="Arial"/>
                  </a:rPr>
                  <a:t>Insiders caught</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B3A4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Ours</c:v>
                </c:pt>
              </c:strCache>
            </c:strRef>
          </c:tx>
          <c:spPr>
            <a:solidFill>
              <a:srgbClr val="E39B2D"/>
            </a:solidFill>
            <a:effectLst/>
          </c:spPr>
          <c:invertIfNegative val="0"/>
          <c:dLbls>
            <c:numFmt formatCode="0.00" sourceLinked="0"/>
            <c:txPr>
              <a:bodyPr/>
              <a:lstStyle/>
              <a:p>
                <a:pPr>
                  <a:defRPr b="0" i="0" strike="noStrike" sz="900" u="none">
                    <a:solidFill>
                      <a:srgbClr val="16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S1 after-hours leak (n=13)</c:v>
                  </c:pt>
                  <c:pt idx="1">
                    <c:v>S2 job-hunt then USB (n=17)</c:v>
                  </c:pt>
                  <c:pt idx="2">
                    <c:v>S3 admin as boss (n=3)</c:v>
                  </c:pt>
                </c:lvl>
              </c:multiLvlStrCache>
            </c:multiLvlStrRef>
          </c:cat>
          <c:val>
            <c:numRef>
              <c:f>Sheet1!$B$2:$B$4</c:f>
              <c:numCache>
                <c:formatCode>General</c:formatCode>
                <c:ptCount val="3"/>
                <c:pt idx="0">
                  <c:v>0.44</c:v>
                </c:pt>
                <c:pt idx="1">
                  <c:v>0.33</c:v>
                </c:pt>
                <c:pt idx="2">
                  <c:v>1</c:v>
                </c:pt>
              </c:numCache>
            </c:numRef>
          </c:val>
        </c:ser>
        <c:ser>
          <c:idx val="1"/>
          <c:order val="1"/>
          <c:tx>
            <c:strRef>
              <c:f>Sheet1!$C$1</c:f>
              <c:strCache>
                <c:ptCount val="1"/>
                <c:pt idx="0">
                  <c:v>Isolation Forest</c:v>
                </c:pt>
              </c:strCache>
            </c:strRef>
          </c:tx>
          <c:spPr>
            <a:solidFill>
              <a:srgbClr val="3F6496"/>
            </a:solidFill>
            <a:effectLst/>
          </c:spPr>
          <c:invertIfNegative val="0"/>
          <c:dLbls>
            <c:numFmt formatCode="0.00" sourceLinked="0"/>
            <c:txPr>
              <a:bodyPr/>
              <a:lstStyle/>
              <a:p>
                <a:pPr>
                  <a:defRPr b="0" i="0" strike="noStrike" sz="900" u="none">
                    <a:solidFill>
                      <a:srgbClr val="16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S1 after-hours leak (n=13)</c:v>
                  </c:pt>
                  <c:pt idx="1">
                    <c:v>S2 job-hunt then USB (n=17)</c:v>
                  </c:pt>
                  <c:pt idx="2">
                    <c:v>S3 admin as boss (n=3)</c:v>
                  </c:pt>
                </c:lvl>
              </c:multiLvlStrCache>
            </c:multiLvlStrRef>
          </c:cat>
          <c:val>
            <c:numRef>
              <c:f>Sheet1!$C$2:$C$4</c:f>
              <c:numCache>
                <c:formatCode>General</c:formatCode>
                <c:ptCount val="3"/>
                <c:pt idx="0">
                  <c:v>0.45</c:v>
                </c:pt>
                <c:pt idx="1">
                  <c:v>0.03</c:v>
                </c:pt>
                <c:pt idx="2">
                  <c:v>1</c:v>
                </c:pt>
              </c:numCache>
            </c:numRef>
          </c:val>
        </c:ser>
        <c:ser>
          <c:idx val="2"/>
          <c:order val="2"/>
          <c:tx>
            <c:strRef>
              <c:f>Sheet1!$D$1</c:f>
              <c:strCache>
                <c:ptCount val="1"/>
                <c:pt idx="0">
                  <c:v>LOF</c:v>
                </c:pt>
              </c:strCache>
            </c:strRef>
          </c:tx>
          <c:spPr>
            <a:solidFill>
              <a:srgbClr val="6F93BF"/>
            </a:solidFill>
            <a:effectLst/>
          </c:spPr>
          <c:invertIfNegative val="0"/>
          <c:dLbls>
            <c:numFmt formatCode="0.00" sourceLinked="0"/>
            <c:txPr>
              <a:bodyPr/>
              <a:lstStyle/>
              <a:p>
                <a:pPr>
                  <a:defRPr b="0" i="0" strike="noStrike" sz="900" u="none">
                    <a:solidFill>
                      <a:srgbClr val="16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S1 after-hours leak (n=13)</c:v>
                  </c:pt>
                  <c:pt idx="1">
                    <c:v>S2 job-hunt then USB (n=17)</c:v>
                  </c:pt>
                  <c:pt idx="2">
                    <c:v>S3 admin as boss (n=3)</c:v>
                  </c:pt>
                </c:lvl>
              </c:multiLvlStrCache>
            </c:multiLvlStrRef>
          </c:cat>
          <c:val>
            <c:numRef>
              <c:f>Sheet1!$D$2:$D$4</c:f>
              <c:numCache>
                <c:formatCode>General</c:formatCode>
                <c:ptCount val="3"/>
                <c:pt idx="0">
                  <c:v>0.38</c:v>
                </c:pt>
                <c:pt idx="1">
                  <c:v>0.41</c:v>
                </c:pt>
                <c:pt idx="2">
                  <c:v>1</c:v>
                </c:pt>
              </c:numCache>
            </c:numRef>
          </c:val>
        </c:ser>
        <c:ser>
          <c:idx val="3"/>
          <c:order val="3"/>
          <c:tx>
            <c:strRef>
              <c:f>Sheet1!$E$1</c:f>
              <c:strCache>
                <c:ptCount val="1"/>
                <c:pt idx="0">
                  <c:v>Autoencoder</c:v>
                </c:pt>
              </c:strCache>
            </c:strRef>
          </c:tx>
          <c:spPr>
            <a:solidFill>
              <a:srgbClr val="8A9AB0"/>
            </a:solidFill>
            <a:effectLst/>
          </c:spPr>
          <c:invertIfNegative val="0"/>
          <c:dLbls>
            <c:numFmt formatCode="0.00" sourceLinked="0"/>
            <c:txPr>
              <a:bodyPr/>
              <a:lstStyle/>
              <a:p>
                <a:pPr>
                  <a:defRPr b="0" i="0" strike="noStrike" sz="900" u="none">
                    <a:solidFill>
                      <a:srgbClr val="16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S1 after-hours leak (n=13)</c:v>
                  </c:pt>
                  <c:pt idx="1">
                    <c:v>S2 job-hunt then USB (n=17)</c:v>
                  </c:pt>
                  <c:pt idx="2">
                    <c:v>S3 admin as boss (n=3)</c:v>
                  </c:pt>
                </c:lvl>
              </c:multiLvlStrCache>
            </c:multiLvlStrRef>
          </c:cat>
          <c:val>
            <c:numRef>
              <c:f>Sheet1!$E$2:$E$4</c:f>
              <c:numCache>
                <c:formatCode>General</c:formatCode>
                <c:ptCount val="3"/>
                <c:pt idx="0">
                  <c:v>0.47</c:v>
                </c:pt>
                <c:pt idx="1">
                  <c:v>0.32</c:v>
                </c:pt>
                <c:pt idx="2">
                  <c:v>1</c:v>
                </c:pt>
              </c:numCache>
            </c:numRef>
          </c:val>
        </c:ser>
        <c:ser>
          <c:idx val="4"/>
          <c:order val="4"/>
          <c:tx>
            <c:strRef>
              <c:f>Sheet1!$F$1</c:f>
              <c:strCache>
                <c:ptCount val="1"/>
                <c:pt idx="0">
                  <c:v>Rules</c:v>
                </c:pt>
              </c:strCache>
            </c:strRef>
          </c:tx>
          <c:spPr>
            <a:solidFill>
              <a:srgbClr val="C5CCD6"/>
            </a:solidFill>
            <a:effectLst/>
          </c:spPr>
          <c:invertIfNegative val="0"/>
          <c:dLbls>
            <c:numFmt formatCode="0.00" sourceLinked="0"/>
            <c:txPr>
              <a:bodyPr/>
              <a:lstStyle/>
              <a:p>
                <a:pPr>
                  <a:defRPr b="0" i="0" strike="noStrike" sz="900" u="none">
                    <a:solidFill>
                      <a:srgbClr val="16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S1 after-hours leak (n=13)</c:v>
                  </c:pt>
                  <c:pt idx="1">
                    <c:v>S2 job-hunt then USB (n=17)</c:v>
                  </c:pt>
                  <c:pt idx="2">
                    <c:v>S3 admin as boss (n=3)</c:v>
                  </c:pt>
                </c:lvl>
              </c:multiLvlStrCache>
            </c:multiLvlStrRef>
          </c:cat>
          <c:val>
            <c:numRef>
              <c:f>Sheet1!$F$2:$F$4</c:f>
              <c:numCache>
                <c:formatCode>General</c:formatCode>
                <c:ptCount val="3"/>
                <c:pt idx="0">
                  <c:v>0.46</c:v>
                </c:pt>
                <c:pt idx="1">
                  <c:v>0.15</c:v>
                </c:pt>
                <c:pt idx="2">
                  <c:v>0.33</c:v>
                </c:pt>
              </c:numCache>
            </c:numRef>
          </c:val>
        </c:ser>
        <c:dLbls>
          <c:numFmt formatCode="0.00" sourceLinked="0"/>
          <c:txPr>
            <a:bodyPr/>
            <a:lstStyle/>
            <a:p>
              <a:pPr>
                <a:defRPr b="0" i="0" strike="noStrike" sz="900" u="none">
                  <a:solidFill>
                    <a:srgbClr val="16202E"/>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A4F"/>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DDE2E8"/>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B3A4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Ours</c:v>
                </c:pt>
              </c:strCache>
            </c:strRef>
          </c:tx>
          <c:spPr>
            <a:solidFill>
              <a:srgbClr val="E39B2D"/>
            </a:solidFill>
            <a:effectLst/>
          </c:spPr>
          <c:invertIfNegative val="0"/>
          <c:dLbls>
            <c:numFmt formatCode="0.00" sourceLinked="0"/>
            <c:txPr>
              <a:bodyPr/>
              <a:lstStyle/>
              <a:p>
                <a:pPr>
                  <a:defRPr b="0" i="0" strike="noStrike" sz="900" u="none">
                    <a:solidFill>
                      <a:srgbClr val="16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250 users</c:v>
                  </c:pt>
                  <c:pt idx="1">
                    <c:v>500 users</c:v>
                  </c:pt>
                  <c:pt idx="2">
                    <c:v>1,000 users</c:v>
                  </c:pt>
                </c:lvl>
              </c:multiLvlStrCache>
            </c:multiLvlStrRef>
          </c:cat>
          <c:val>
            <c:numRef>
              <c:f>Sheet1!$B$2:$B$4</c:f>
              <c:numCache>
                <c:formatCode>General</c:formatCode>
                <c:ptCount val="3"/>
                <c:pt idx="0">
                  <c:v>0.9</c:v>
                </c:pt>
                <c:pt idx="1">
                  <c:v>0.73</c:v>
                </c:pt>
                <c:pt idx="2">
                  <c:v>0.4</c:v>
                </c:pt>
              </c:numCache>
            </c:numRef>
          </c:val>
        </c:ser>
        <c:ser>
          <c:idx val="1"/>
          <c:order val="1"/>
          <c:tx>
            <c:strRef>
              <c:f>Sheet1!$C$1</c:f>
              <c:strCache>
                <c:ptCount val="1"/>
                <c:pt idx="0">
                  <c:v>Isolation Forest</c:v>
                </c:pt>
              </c:strCache>
            </c:strRef>
          </c:tx>
          <c:spPr>
            <a:solidFill>
              <a:srgbClr val="3F6496"/>
            </a:solidFill>
            <a:effectLst/>
          </c:spPr>
          <c:invertIfNegative val="0"/>
          <c:dLbls>
            <c:numFmt formatCode="0.00" sourceLinked="0"/>
            <c:txPr>
              <a:bodyPr/>
              <a:lstStyle/>
              <a:p>
                <a:pPr>
                  <a:defRPr b="0" i="0" strike="noStrike" sz="900" u="none">
                    <a:solidFill>
                      <a:srgbClr val="16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250 users</c:v>
                  </c:pt>
                  <c:pt idx="1">
                    <c:v>500 users</c:v>
                  </c:pt>
                  <c:pt idx="2">
                    <c:v>1,000 users</c:v>
                  </c:pt>
                </c:lvl>
              </c:multiLvlStrCache>
            </c:multiLvlStrRef>
          </c:cat>
          <c:val>
            <c:numRef>
              <c:f>Sheet1!$C$2:$C$4</c:f>
              <c:numCache>
                <c:formatCode>General</c:formatCode>
                <c:ptCount val="3"/>
                <c:pt idx="0">
                  <c:v>0.59</c:v>
                </c:pt>
                <c:pt idx="1">
                  <c:v>0.32</c:v>
                </c:pt>
                <c:pt idx="2">
                  <c:v>0.25</c:v>
                </c:pt>
              </c:numCache>
            </c:numRef>
          </c:val>
        </c:ser>
        <c:ser>
          <c:idx val="2"/>
          <c:order val="2"/>
          <c:tx>
            <c:strRef>
              <c:f>Sheet1!$D$1</c:f>
              <c:strCache>
                <c:ptCount val="1"/>
                <c:pt idx="0">
                  <c:v>LOF</c:v>
                </c:pt>
              </c:strCache>
            </c:strRef>
          </c:tx>
          <c:spPr>
            <a:solidFill>
              <a:srgbClr val="6F93BF"/>
            </a:solidFill>
            <a:effectLst/>
          </c:spPr>
          <c:invertIfNegative val="0"/>
          <c:dLbls>
            <c:numFmt formatCode="0.00" sourceLinked="0"/>
            <c:txPr>
              <a:bodyPr/>
              <a:lstStyle/>
              <a:p>
                <a:pPr>
                  <a:defRPr b="0" i="0" strike="noStrike" sz="900" u="none">
                    <a:solidFill>
                      <a:srgbClr val="16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250 users</c:v>
                  </c:pt>
                  <c:pt idx="1">
                    <c:v>500 users</c:v>
                  </c:pt>
                  <c:pt idx="2">
                    <c:v>1,000 users</c:v>
                  </c:pt>
                </c:lvl>
              </c:multiLvlStrCache>
            </c:multiLvlStrRef>
          </c:cat>
          <c:val>
            <c:numRef>
              <c:f>Sheet1!$D$2:$D$4</c:f>
              <c:numCache>
                <c:formatCode>General</c:formatCode>
                <c:ptCount val="3"/>
                <c:pt idx="0">
                  <c:v>0.94</c:v>
                </c:pt>
                <c:pt idx="1">
                  <c:v>0.69</c:v>
                </c:pt>
                <c:pt idx="2">
                  <c:v>0.47</c:v>
                </c:pt>
              </c:numCache>
            </c:numRef>
          </c:val>
        </c:ser>
        <c:ser>
          <c:idx val="3"/>
          <c:order val="3"/>
          <c:tx>
            <c:strRef>
              <c:f>Sheet1!$E$1</c:f>
              <c:strCache>
                <c:ptCount val="1"/>
                <c:pt idx="0">
                  <c:v>Autoencoder</c:v>
                </c:pt>
              </c:strCache>
            </c:strRef>
          </c:tx>
          <c:spPr>
            <a:solidFill>
              <a:srgbClr val="8A9AB0"/>
            </a:solidFill>
            <a:effectLst/>
          </c:spPr>
          <c:invertIfNegative val="0"/>
          <c:dLbls>
            <c:numFmt formatCode="0.00" sourceLinked="0"/>
            <c:txPr>
              <a:bodyPr/>
              <a:lstStyle/>
              <a:p>
                <a:pPr>
                  <a:defRPr b="0" i="0" strike="noStrike" sz="900" u="none">
                    <a:solidFill>
                      <a:srgbClr val="16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250 users</c:v>
                  </c:pt>
                  <c:pt idx="1">
                    <c:v>500 users</c:v>
                  </c:pt>
                  <c:pt idx="2">
                    <c:v>1,000 users</c:v>
                  </c:pt>
                </c:lvl>
              </c:multiLvlStrCache>
            </c:multiLvlStrRef>
          </c:cat>
          <c:val>
            <c:numRef>
              <c:f>Sheet1!$E$2:$E$4</c:f>
              <c:numCache>
                <c:formatCode>General</c:formatCode>
                <c:ptCount val="3"/>
                <c:pt idx="0">
                  <c:v>0.76</c:v>
                </c:pt>
                <c:pt idx="1">
                  <c:v>0.61</c:v>
                </c:pt>
                <c:pt idx="2">
                  <c:v>0.4</c:v>
                </c:pt>
              </c:numCache>
            </c:numRef>
          </c:val>
        </c:ser>
        <c:ser>
          <c:idx val="4"/>
          <c:order val="4"/>
          <c:tx>
            <c:strRef>
              <c:f>Sheet1!$F$1</c:f>
              <c:strCache>
                <c:ptCount val="1"/>
                <c:pt idx="0">
                  <c:v>Rules</c:v>
                </c:pt>
              </c:strCache>
            </c:strRef>
          </c:tx>
          <c:spPr>
            <a:solidFill>
              <a:srgbClr val="C5CCD6"/>
            </a:solidFill>
            <a:effectLst/>
          </c:spPr>
          <c:invertIfNegative val="0"/>
          <c:dLbls>
            <c:numFmt formatCode="0.00" sourceLinked="0"/>
            <c:txPr>
              <a:bodyPr/>
              <a:lstStyle/>
              <a:p>
                <a:pPr>
                  <a:defRPr b="0" i="0" strike="noStrike" sz="900" u="none">
                    <a:solidFill>
                      <a:srgbClr val="16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250 users</c:v>
                  </c:pt>
                  <c:pt idx="1">
                    <c:v>500 users</c:v>
                  </c:pt>
                  <c:pt idx="2">
                    <c:v>1,000 users</c:v>
                  </c:pt>
                </c:lvl>
              </c:multiLvlStrCache>
            </c:multiLvlStrRef>
          </c:cat>
          <c:val>
            <c:numRef>
              <c:f>Sheet1!$F$2:$F$4</c:f>
              <c:numCache>
                <c:formatCode>General</c:formatCode>
                <c:ptCount val="3"/>
                <c:pt idx="0">
                  <c:v>0.52</c:v>
                </c:pt>
                <c:pt idx="1">
                  <c:v>0.21</c:v>
                </c:pt>
                <c:pt idx="2">
                  <c:v>0.24</c:v>
                </c:pt>
              </c:numCache>
            </c:numRef>
          </c:val>
        </c:ser>
        <c:dLbls>
          <c:numFmt formatCode="0.00" sourceLinked="0"/>
          <c:txPr>
            <a:bodyPr/>
            <a:lstStyle/>
            <a:p>
              <a:pPr>
                <a:defRPr b="0" i="0" strike="noStrike" sz="900" u="none">
                  <a:solidFill>
                    <a:srgbClr val="16202E"/>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A4F"/>
                </a:solidFill>
                <a:latin typeface="+mn-lt"/>
              </a:defRPr>
            </a:pPr>
            <a:endParaRPr lang="en-US"/>
          </a:p>
        </c:txPr>
        <c:crossAx val="2094734552"/>
        <c:crosses val="autoZero"/>
        <c:auto val="1"/>
        <c:lblAlgn val="ctr"/>
        <c:noMultiLvlLbl val="1"/>
      </c:catAx>
      <c:valAx>
        <c:axId val="2094734552"/>
        <c:scaling>
          <c:orientation val="minMax"/>
          <c:max val="1.05"/>
          <c:min val="0"/>
        </c:scaling>
        <c:delete val="0"/>
        <c:axPos val="l"/>
        <c:majorGridlines>
          <c:spPr>
            <a:ln w="6350" cap="flat">
              <a:solidFill>
                <a:srgbClr val="DDE2E8"/>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B3A4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3A4F"/>
                </a:solidFill>
                <a:latin typeface="+mn-lt"/>
              </a:defRPr>
            </a:pPr>
            <a:r>
              <a:rPr sz="1300" b="0" i="0" u="none" strike="noStrike">
                <a:solidFill>
                  <a:srgbClr val="2B3A4F"/>
                </a:solidFill>
                <a:latin typeface="+mn-lt"/>
              </a:rPr>
              <a:t>Median hours from attack onset to first alert (10/day)</a:t>
            </a:r>
          </a:p>
        </c:rich>
      </c:tx>
      <c:layout/>
      <c:overlay val="0"/>
    </c:title>
    <c:autoTitleDeleted val="0"/>
    <c:plotArea>
      <c:layout/>
      <c:barChart>
        <c:barDir val="bar"/>
        <c:grouping val="clustered"/>
        <c:varyColors val="0"/>
        <c:ser>
          <c:idx val="0"/>
          <c:order val="0"/>
          <c:tx>
            <c:strRef>
              <c:f>Sheet1!$B$1</c:f>
              <c:strCache>
                <c:ptCount val="1"/>
                <c:pt idx="0">
                  <c:v>Ours</c:v>
                </c:pt>
              </c:strCache>
            </c:strRef>
          </c:tx>
          <c:spPr>
            <a:solidFill>
              <a:srgbClr val="E39B2D"/>
            </a:solidFill>
            <a:effectLst/>
          </c:spPr>
          <c:invertIfNegative val="0"/>
          <c:dLbls>
            <c:numFmt formatCode="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cat>
            <c:multiLvlStrRef>
              <c:f>Sheet1!$A$2:$A$6</c:f>
              <c:multiLvlStrCache>
                <c:ptCount val="5"/>
                <c:lvl>
                  <c:pt idx="0">
                    <c:v>Ours</c:v>
                  </c:pt>
                  <c:pt idx="1">
                    <c:v>Isolation Forest</c:v>
                  </c:pt>
                  <c:pt idx="2">
                    <c:v>LOF</c:v>
                  </c:pt>
                  <c:pt idx="3">
                    <c:v>Autoencoder</c:v>
                  </c:pt>
                  <c:pt idx="4">
                    <c:v>Rules</c:v>
                  </c:pt>
                </c:lvl>
              </c:multiLvlStrCache>
            </c:multiLvlStrRef>
          </c:cat>
          <c:val>
            <c:numRef>
              <c:f>Sheet1!$B$2:$B$6</c:f>
              <c:numCache>
                <c:formatCode>General</c:formatCode>
                <c:ptCount val="5"/>
                <c:pt idx="0">
                  <c:v>23</c:v>
                </c:pt>
                <c:pt idx="1">
                  <c:v>0</c:v>
                </c:pt>
                <c:pt idx="2">
                  <c:v>0</c:v>
                </c:pt>
                <c:pt idx="3">
                  <c:v>0</c:v>
                </c:pt>
                <c:pt idx="4">
                  <c:v>0</c:v>
                </c:pt>
              </c:numCache>
            </c:numRef>
          </c:val>
        </c:ser>
        <c:ser>
          <c:idx val="1"/>
          <c:order val="1"/>
          <c:tx>
            <c:strRef>
              <c:f>Sheet1!$C$1</c:f>
              <c:strCache>
                <c:ptCount val="1"/>
                <c:pt idx="0">
                  <c:v>Others</c:v>
                </c:pt>
              </c:strCache>
            </c:strRef>
          </c:tx>
          <c:spPr>
            <a:solidFill>
              <a:srgbClr val="8C97A8"/>
            </a:solidFill>
            <a:effectLst/>
          </c:spPr>
          <c:invertIfNegative val="0"/>
          <c:dLbls>
            <c:numFmt formatCode="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cat>
            <c:multiLvlStrRef>
              <c:f>Sheet1!$A$2:$A$6</c:f>
              <c:multiLvlStrCache>
                <c:ptCount val="5"/>
                <c:lvl>
                  <c:pt idx="0">
                    <c:v>Ours</c:v>
                  </c:pt>
                  <c:pt idx="1">
                    <c:v>Isolation Forest</c:v>
                  </c:pt>
                  <c:pt idx="2">
                    <c:v>LOF</c:v>
                  </c:pt>
                  <c:pt idx="3">
                    <c:v>Autoencoder</c:v>
                  </c:pt>
                  <c:pt idx="4">
                    <c:v>Rules</c:v>
                  </c:pt>
                </c:lvl>
              </c:multiLvlStrCache>
            </c:multiLvlStrRef>
          </c:cat>
          <c:val>
            <c:numRef>
              <c:f>Sheet1!$C$2:$C$6</c:f>
              <c:numCache>
                <c:formatCode>General</c:formatCode>
                <c:ptCount val="5"/>
                <c:pt idx="0">
                  <c:v>0</c:v>
                </c:pt>
                <c:pt idx="1">
                  <c:v>16</c:v>
                </c:pt>
                <c:pt idx="2">
                  <c:v>141</c:v>
                </c:pt>
                <c:pt idx="3">
                  <c:v>63</c:v>
                </c:pt>
                <c:pt idx="4">
                  <c:v>17</c:v>
                </c:pt>
              </c:numCache>
            </c:numRef>
          </c:val>
        </c:ser>
        <c:dLbls>
          <c:numFmt formatCode="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B3A4F"/>
                </a:solidFill>
                <a:latin typeface="+mn-lt"/>
              </a:defRPr>
            </a:pPr>
            <a:endParaRPr lang="en-US"/>
          </a:p>
        </c:txPr>
        <c:crossAx val="2094734552"/>
        <c:crosses val="autoZero"/>
        <c:auto val="1"/>
        <c:lblAlgn val="ctr"/>
        <c:noMultiLvlLbl val="1"/>
      </c:catAx>
      <c:valAx>
        <c:axId val="2094734552"/>
        <c:scaling>
          <c:orientation val="minMax"/>
          <c:max val="160"/>
          <c:min val="0"/>
        </c:scaling>
        <c:delete val="0"/>
        <c:axPos val="b"/>
        <c:majorGridlines>
          <c:spPr>
            <a:ln w="6350" cap="flat">
              <a:solidFill>
                <a:srgbClr val="DDE2E8"/>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2B3A4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3A4F"/>
                </a:solidFill>
                <a:latin typeface="+mn-lt"/>
              </a:defRPr>
            </a:pPr>
            <a:r>
              <a:rPr sz="1300" b="0" i="0" u="none" strike="noStrike">
                <a:solidFill>
                  <a:srgbClr val="2B3A4F"/>
                </a:solidFill>
                <a:latin typeface="+mn-lt"/>
              </a:rPr>
              <a:t>AUC-ROC over all test user-days (budget-free)</a:t>
            </a:r>
          </a:p>
        </c:rich>
      </c:tx>
      <c:layout/>
      <c:overlay val="0"/>
    </c:title>
    <c:autoTitleDeleted val="0"/>
    <c:plotArea>
      <c:layout/>
      <c:barChart>
        <c:barDir val="col"/>
        <c:grouping val="clustered"/>
        <c:varyColors val="0"/>
        <c:ser>
          <c:idx val="0"/>
          <c:order val="0"/>
          <c:tx>
            <c:strRef>
              <c:f>Sheet1!$B$1</c:f>
              <c:strCache>
                <c:ptCount val="1"/>
                <c:pt idx="0">
                  <c:v>Ours</c:v>
                </c:pt>
              </c:strCache>
            </c:strRef>
          </c:tx>
          <c:spPr>
            <a:solidFill>
              <a:srgbClr val="E39B2D"/>
            </a:solidFill>
            <a:effectLst/>
          </c:spPr>
          <c:invertIfNegative val="0"/>
          <c:dLbls>
            <c:numFmt formatCode="0.0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cat>
            <c:multiLvlStrRef>
              <c:f>Sheet1!$A$2:$A$6</c:f>
              <c:multiLvlStrCache>
                <c:ptCount val="5"/>
                <c:lvl>
                  <c:pt idx="0">
                    <c:v>Ours</c:v>
                  </c:pt>
                  <c:pt idx="1">
                    <c:v>Isolation Forest</c:v>
                  </c:pt>
                  <c:pt idx="2">
                    <c:v>LOF</c:v>
                  </c:pt>
                  <c:pt idx="3">
                    <c:v>Autoencoder</c:v>
                  </c:pt>
                  <c:pt idx="4">
                    <c:v>Rules</c:v>
                  </c:pt>
                </c:lvl>
              </c:multiLvlStrCache>
            </c:multiLvlStrRef>
          </c:cat>
          <c:val>
            <c:numRef>
              <c:f>Sheet1!$B$2:$B$6</c:f>
              <c:numCache>
                <c:formatCode>General</c:formatCode>
                <c:ptCount val="5"/>
                <c:pt idx="0">
                  <c:v>0.85</c:v>
                </c:pt>
                <c:pt idx="1">
                  <c:v>0</c:v>
                </c:pt>
                <c:pt idx="2">
                  <c:v>0</c:v>
                </c:pt>
                <c:pt idx="3">
                  <c:v>0</c:v>
                </c:pt>
                <c:pt idx="4">
                  <c:v>0</c:v>
                </c:pt>
              </c:numCache>
            </c:numRef>
          </c:val>
        </c:ser>
        <c:ser>
          <c:idx val="1"/>
          <c:order val="1"/>
          <c:tx>
            <c:strRef>
              <c:f>Sheet1!$C$1</c:f>
              <c:strCache>
                <c:ptCount val="1"/>
                <c:pt idx="0">
                  <c:v>Others</c:v>
                </c:pt>
              </c:strCache>
            </c:strRef>
          </c:tx>
          <c:spPr>
            <a:solidFill>
              <a:srgbClr val="8C97A8"/>
            </a:solidFill>
            <a:effectLst/>
          </c:spPr>
          <c:invertIfNegative val="0"/>
          <c:dLbls>
            <c:numFmt formatCode="0.0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cat>
            <c:multiLvlStrRef>
              <c:f>Sheet1!$A$2:$A$6</c:f>
              <c:multiLvlStrCache>
                <c:ptCount val="5"/>
                <c:lvl>
                  <c:pt idx="0">
                    <c:v>Ours</c:v>
                  </c:pt>
                  <c:pt idx="1">
                    <c:v>Isolation Forest</c:v>
                  </c:pt>
                  <c:pt idx="2">
                    <c:v>LOF</c:v>
                  </c:pt>
                  <c:pt idx="3">
                    <c:v>Autoencoder</c:v>
                  </c:pt>
                  <c:pt idx="4">
                    <c:v>Rules</c:v>
                  </c:pt>
                </c:lvl>
              </c:multiLvlStrCache>
            </c:multiLvlStrRef>
          </c:cat>
          <c:val>
            <c:numRef>
              <c:f>Sheet1!$C$2:$C$6</c:f>
              <c:numCache>
                <c:formatCode>General</c:formatCode>
                <c:ptCount val="5"/>
                <c:pt idx="0">
                  <c:v>0</c:v>
                </c:pt>
                <c:pt idx="1">
                  <c:v>0.752</c:v>
                </c:pt>
                <c:pt idx="2">
                  <c:v>0.781</c:v>
                </c:pt>
                <c:pt idx="3">
                  <c:v>0.759</c:v>
                </c:pt>
                <c:pt idx="4">
                  <c:v>0.59</c:v>
                </c:pt>
              </c:numCache>
            </c:numRef>
          </c:val>
        </c:ser>
        <c:dLbls>
          <c:numFmt formatCode="0.0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A4F"/>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DE2E8"/>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B3A4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3A4F"/>
                </a:solidFill>
                <a:latin typeface="+mn-lt"/>
              </a:defRPr>
            </a:pPr>
            <a:r>
              <a:rPr sz="1300" b="0" i="0" u="none" strike="noStrike">
                <a:solidFill>
                  <a:srgbClr val="2B3A4F"/>
                </a:solidFill>
                <a:latin typeface="+mn-lt"/>
              </a:rPr>
              <a:t>Seconds to fit and score one test window (all 1,000 users)</a:t>
            </a:r>
          </a:p>
        </c:rich>
      </c:tx>
      <c:layout/>
      <c:overlay val="0"/>
    </c:title>
    <c:autoTitleDeleted val="0"/>
    <c:plotArea>
      <c:layout/>
      <c:barChart>
        <c:barDir val="bar"/>
        <c:grouping val="clustered"/>
        <c:varyColors val="0"/>
        <c:ser>
          <c:idx val="0"/>
          <c:order val="0"/>
          <c:tx>
            <c:strRef>
              <c:f>Sheet1!$B$1</c:f>
              <c:strCache>
                <c:ptCount val="1"/>
                <c:pt idx="0">
                  <c:v>Ours</c:v>
                </c:pt>
              </c:strCache>
            </c:strRef>
          </c:tx>
          <c:spPr>
            <a:solidFill>
              <a:srgbClr val="E39B2D"/>
            </a:solidFill>
            <a:effectLst/>
          </c:spPr>
          <c:invertIfNegative val="0"/>
          <c:dLbls>
            <c:numFmt formatCode="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cat>
            <c:multiLvlStrRef>
              <c:f>Sheet1!$A$2:$A$6</c:f>
              <c:multiLvlStrCache>
                <c:ptCount val="5"/>
                <c:lvl>
                  <c:pt idx="0">
                    <c:v>Ours</c:v>
                  </c:pt>
                  <c:pt idx="1">
                    <c:v>Isolation Forest</c:v>
                  </c:pt>
                  <c:pt idx="2">
                    <c:v>LOF</c:v>
                  </c:pt>
                  <c:pt idx="3">
                    <c:v>Autoencoder</c:v>
                  </c:pt>
                  <c:pt idx="4">
                    <c:v>Rules</c:v>
                  </c:pt>
                </c:lvl>
              </c:multiLvlStrCache>
            </c:multiLvlStrRef>
          </c:cat>
          <c:val>
            <c:numRef>
              <c:f>Sheet1!$B$2:$B$6</c:f>
              <c:numCache>
                <c:formatCode>General</c:formatCode>
                <c:ptCount val="5"/>
                <c:pt idx="0">
                  <c:v>0.5</c:v>
                </c:pt>
                <c:pt idx="1">
                  <c:v>0</c:v>
                </c:pt>
                <c:pt idx="2">
                  <c:v>0</c:v>
                </c:pt>
                <c:pt idx="3">
                  <c:v>0</c:v>
                </c:pt>
                <c:pt idx="4">
                  <c:v>0</c:v>
                </c:pt>
              </c:numCache>
            </c:numRef>
          </c:val>
        </c:ser>
        <c:ser>
          <c:idx val="1"/>
          <c:order val="1"/>
          <c:tx>
            <c:strRef>
              <c:f>Sheet1!$C$1</c:f>
              <c:strCache>
                <c:ptCount val="1"/>
                <c:pt idx="0">
                  <c:v>Others</c:v>
                </c:pt>
              </c:strCache>
            </c:strRef>
          </c:tx>
          <c:spPr>
            <a:solidFill>
              <a:srgbClr val="8C97A8"/>
            </a:solidFill>
            <a:effectLst/>
          </c:spPr>
          <c:invertIfNegative val="0"/>
          <c:dLbls>
            <c:numFmt formatCode="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cat>
            <c:multiLvlStrRef>
              <c:f>Sheet1!$A$2:$A$6</c:f>
              <c:multiLvlStrCache>
                <c:ptCount val="5"/>
                <c:lvl>
                  <c:pt idx="0">
                    <c:v>Ours</c:v>
                  </c:pt>
                  <c:pt idx="1">
                    <c:v>Isolation Forest</c:v>
                  </c:pt>
                  <c:pt idx="2">
                    <c:v>LOF</c:v>
                  </c:pt>
                  <c:pt idx="3">
                    <c:v>Autoencoder</c:v>
                  </c:pt>
                  <c:pt idx="4">
                    <c:v>Rules</c:v>
                  </c:pt>
                </c:lvl>
              </c:multiLvlStrCache>
            </c:multiLvlStrRef>
          </c:cat>
          <c:val>
            <c:numRef>
              <c:f>Sheet1!$C$2:$C$6</c:f>
              <c:numCache>
                <c:formatCode>General</c:formatCode>
                <c:ptCount val="5"/>
                <c:pt idx="0">
                  <c:v>0</c:v>
                </c:pt>
                <c:pt idx="1">
                  <c:v>8.4</c:v>
                </c:pt>
                <c:pt idx="2">
                  <c:v>40.4</c:v>
                </c:pt>
                <c:pt idx="3">
                  <c:v>22.1</c:v>
                </c:pt>
                <c:pt idx="4">
                  <c:v>0.1</c:v>
                </c:pt>
              </c:numCache>
            </c:numRef>
          </c:val>
        </c:ser>
        <c:dLbls>
          <c:numFmt formatCode="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B3A4F"/>
                </a:solidFill>
                <a:latin typeface="+mn-lt"/>
              </a:defRPr>
            </a:pPr>
            <a:endParaRPr lang="en-US"/>
          </a:p>
        </c:txPr>
        <c:crossAx val="2094734552"/>
        <c:crosses val="autoZero"/>
        <c:auto val="1"/>
        <c:lblAlgn val="ctr"/>
        <c:noMultiLvlLbl val="1"/>
      </c:catAx>
      <c:valAx>
        <c:axId val="2094734552"/>
        <c:scaling>
          <c:orientation val="minMax"/>
          <c:max val="45"/>
          <c:min val="0"/>
        </c:scaling>
        <c:delete val="0"/>
        <c:axPos val="b"/>
        <c:majorGridlines>
          <c:spPr>
            <a:ln w="6350" cap="flat">
              <a:solidFill>
                <a:srgbClr val="DDE2E8"/>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2B3A4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3A4F"/>
                </a:solidFill>
                <a:latin typeface="+mn-lt"/>
              </a:defRPr>
            </a:pPr>
            <a:r>
              <a:rPr sz="1300" b="0" i="0" u="none" strike="noStrike">
                <a:solidFill>
                  <a:srgbClr val="2B3A4F"/>
                </a:solidFill>
                <a:latin typeface="+mn-lt"/>
              </a:rPr>
              <a:t>Share of alerts that are real, by the family the explanation names</a:t>
            </a:r>
          </a:p>
        </c:rich>
      </c:tx>
      <c:layout/>
      <c:overlay val="0"/>
    </c:title>
    <c:autoTitleDeleted val="0"/>
    <c:plotArea>
      <c:layout/>
      <c:barChart>
        <c:barDir val="col"/>
        <c:grouping val="clustered"/>
        <c:varyColors val="0"/>
        <c:ser>
          <c:idx val="0"/>
          <c:order val="0"/>
          <c:tx>
            <c:strRef>
              <c:f>Sheet1!$B$1</c:f>
              <c:strCache>
                <c:ptCount val="1"/>
                <c:pt idx="0">
                  <c:v>Precision</c:v>
                </c:pt>
              </c:strCache>
            </c:strRef>
          </c:tx>
          <c:spPr>
            <a:solidFill>
              <a:srgbClr val="E39B2D"/>
            </a:solidFill>
            <a:effectLst/>
          </c:spPr>
          <c:invertIfNegative val="0"/>
          <c:dLbls>
            <c:numFmt formatCode="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dPt>
            <c:idx val="0"/>
            <c:invertIfNegative val="0"/>
            <c:bubble3D val="0"/>
            <c:spPr>
              <a:solidFill>
                <a:srgbClr val="E39B2D"/>
              </a:solidFill>
              <a:effectLst/>
            </c:spPr>
          </c:dPt>
          <c:dPt>
            <c:idx val="1"/>
            <c:invertIfNegative val="0"/>
            <c:bubble3D val="0"/>
            <c:spPr>
              <a:solidFill>
                <a:srgbClr val="3F6496"/>
              </a:solidFill>
              <a:effectLst/>
            </c:spPr>
          </c:dPt>
          <c:dPt>
            <c:idx val="2"/>
            <c:invertIfNegative val="0"/>
            <c:bubble3D val="0"/>
            <c:spPr>
              <a:solidFill>
                <a:srgbClr val="3F6496"/>
              </a:solidFill>
              <a:effectLst/>
            </c:spPr>
          </c:dPt>
          <c:dPt>
            <c:idx val="3"/>
            <c:invertIfNegative val="0"/>
            <c:bubble3D val="0"/>
            <c:spPr>
              <a:solidFill>
                <a:srgbClr val="3F6496"/>
              </a:solidFill>
              <a:effectLst/>
            </c:spPr>
          </c:dPt>
          <c:dPt>
            <c:idx val="4"/>
            <c:invertIfNegative val="0"/>
            <c:bubble3D val="0"/>
            <c:spPr>
              <a:solidFill>
                <a:srgbClr val="8C97A8"/>
              </a:solidFill>
              <a:effectLst/>
            </c:spPr>
          </c:dPt>
          <c:cat>
            <c:multiLvlStrRef>
              <c:f>Sheet1!$A$2:$A$6</c:f>
              <c:multiLvlStrCache>
                <c:ptCount val="5"/>
                <c:lvl>
                  <c:pt idx="0">
                    <c:v>Volume</c:v>
                  </c:pt>
                  <c:pt idx="1">
                    <c:v>Resource</c:v>
                  </c:pt>
                  <c:pt idx="2">
                    <c:v>Timing</c:v>
                  </c:pt>
                  <c:pt idx="3">
                    <c:v>Identity</c:v>
                  </c:pt>
                  <c:pt idx="4">
                    <c:v>All alerts</c:v>
                  </c:pt>
                </c:lvl>
              </c:multiLvlStrCache>
            </c:multiLvlStrRef>
          </c:cat>
          <c:val>
            <c:numRef>
              <c:f>Sheet1!$B$2:$B$6</c:f>
              <c:numCache>
                <c:formatCode>General</c:formatCode>
                <c:ptCount val="5"/>
                <c:pt idx="0">
                  <c:v>0.107</c:v>
                </c:pt>
                <c:pt idx="1">
                  <c:v>0.013</c:v>
                </c:pt>
                <c:pt idx="2">
                  <c:v>0.008</c:v>
                </c:pt>
                <c:pt idx="3">
                  <c:v>0</c:v>
                </c:pt>
                <c:pt idx="4">
                  <c:v>0.029</c:v>
                </c:pt>
              </c:numCache>
            </c:numRef>
          </c:val>
        </c:ser>
        <c:dLbls>
          <c:numFmt formatCode="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A4F"/>
                </a:solidFill>
                <a:latin typeface="+mn-lt"/>
              </a:defRPr>
            </a:pPr>
            <a:endParaRPr lang="en-US"/>
          </a:p>
        </c:txPr>
        <c:crossAx val="2094734552"/>
        <c:crosses val="autoZero"/>
        <c:auto val="1"/>
        <c:lblAlgn val="ctr"/>
        <c:noMultiLvlLbl val="1"/>
      </c:catAx>
      <c:valAx>
        <c:axId val="2094734552"/>
        <c:scaling>
          <c:orientation val="minMax"/>
          <c:max val="0.12"/>
          <c:min val="0"/>
        </c:scaling>
        <c:delete val="0"/>
        <c:axPos val="l"/>
        <c:majorGridlines>
          <c:spPr>
            <a:ln w="6350" cap="flat">
              <a:solidFill>
                <a:srgbClr val="DDE2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B3A4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Ours</c:v>
                </c:pt>
              </c:strCache>
            </c:strRef>
          </c:tx>
          <c:spPr>
            <a:solidFill>
              <a:srgbClr val="E39B2D"/>
            </a:solidFill>
            <a:effectLst/>
          </c:spPr>
          <c:invertIfNegative val="0"/>
          <c:dLbls>
            <c:numFmt formatCode="0.00" sourceLinked="0"/>
            <c:txPr>
              <a:bodyPr/>
              <a:lstStyle/>
              <a:p>
                <a:pPr>
                  <a:defRPr b="0" i="0" strike="noStrike" sz="900" u="none">
                    <a:solidFill>
                      <a:srgbClr val="16202E"/>
                    </a:solidFill>
                    <a:latin typeface="+mn-lt"/>
                  </a:defRPr>
                </a:pPr>
              </a:p>
            </c:txPr>
            <c:showLegendKey val="0"/>
            <c:showVal val="1"/>
            <c:showCatName val="0"/>
            <c:showSerName val="0"/>
            <c:showPercent val="0"/>
            <c:showBubbleSize val="0"/>
            <c:showLeaderLines val="0"/>
          </c:dLbls>
          <c:cat>
            <c:multiLvlStrRef>
              <c:f>Sheet1!$A$2:$A$5</c:f>
              <c:multiLvlStrCache>
                <c:ptCount val="4"/>
                <c:lvl>
                  <c:pt idx="0">
                    <c:v>DR@10 validation</c:v>
                  </c:pt>
                  <c:pt idx="1">
                    <c:v>DR@10 test</c:v>
                  </c:pt>
                  <c:pt idx="2">
                    <c:v>Precision@10 ×10 validation</c:v>
                  </c:pt>
                  <c:pt idx="3">
                    <c:v>Precision@10 ×10 test</c:v>
                  </c:pt>
                </c:lvl>
              </c:multiLvlStrCache>
            </c:multiLvlStrRef>
          </c:cat>
          <c:val>
            <c:numRef>
              <c:f>Sheet1!$B$2:$B$5</c:f>
              <c:numCache>
                <c:formatCode>General</c:formatCode>
                <c:ptCount val="4"/>
                <c:pt idx="0">
                  <c:v>0.789</c:v>
                </c:pt>
                <c:pt idx="1">
                  <c:v>0.434</c:v>
                </c:pt>
                <c:pt idx="2">
                  <c:v>0.98</c:v>
                </c:pt>
                <c:pt idx="3">
                  <c:v>0.28</c:v>
                </c:pt>
              </c:numCache>
            </c:numRef>
          </c:val>
        </c:ser>
        <c:ser>
          <c:idx val="1"/>
          <c:order val="1"/>
          <c:tx>
            <c:strRef>
              <c:f>Sheet1!$C$1</c:f>
              <c:strCache>
                <c:ptCount val="1"/>
                <c:pt idx="0">
                  <c:v>Isolation Forest</c:v>
                </c:pt>
              </c:strCache>
            </c:strRef>
          </c:tx>
          <c:spPr>
            <a:solidFill>
              <a:srgbClr val="3F6496"/>
            </a:solidFill>
            <a:effectLst/>
          </c:spPr>
          <c:invertIfNegative val="0"/>
          <c:dLbls>
            <c:numFmt formatCode="0.00" sourceLinked="0"/>
            <c:txPr>
              <a:bodyPr/>
              <a:lstStyle/>
              <a:p>
                <a:pPr>
                  <a:defRPr b="0" i="0" strike="noStrike" sz="900" u="none">
                    <a:solidFill>
                      <a:srgbClr val="16202E"/>
                    </a:solidFill>
                    <a:latin typeface="+mn-lt"/>
                  </a:defRPr>
                </a:pPr>
              </a:p>
            </c:txPr>
            <c:showLegendKey val="0"/>
            <c:showVal val="1"/>
            <c:showCatName val="0"/>
            <c:showSerName val="0"/>
            <c:showPercent val="0"/>
            <c:showBubbleSize val="0"/>
            <c:showLeaderLines val="0"/>
          </c:dLbls>
          <c:cat>
            <c:multiLvlStrRef>
              <c:f>Sheet1!$A$2:$A$5</c:f>
              <c:multiLvlStrCache>
                <c:ptCount val="4"/>
                <c:lvl>
                  <c:pt idx="0">
                    <c:v>DR@10 validation</c:v>
                  </c:pt>
                  <c:pt idx="1">
                    <c:v>DR@10 test</c:v>
                  </c:pt>
                  <c:pt idx="2">
                    <c:v>Precision@10 ×10 validation</c:v>
                  </c:pt>
                  <c:pt idx="3">
                    <c:v>Precision@10 ×10 test</c:v>
                  </c:pt>
                </c:lvl>
              </c:multiLvlStrCache>
            </c:multiLvlStrRef>
          </c:cat>
          <c:val>
            <c:numRef>
              <c:f>Sheet1!$C$2:$C$5</c:f>
              <c:numCache>
                <c:formatCode>General</c:formatCode>
                <c:ptCount val="4"/>
                <c:pt idx="0">
                  <c:v>0.31</c:v>
                </c:pt>
                <c:pt idx="1">
                  <c:v>0.284</c:v>
                </c:pt>
                <c:pt idx="2">
                  <c:v>0.27</c:v>
                </c:pt>
                <c:pt idx="3">
                  <c:v>0.07</c:v>
                </c:pt>
              </c:numCache>
            </c:numRef>
          </c:val>
        </c:ser>
        <c:dLbls>
          <c:numFmt formatCode="0.00" sourceLinked="0"/>
          <c:txPr>
            <a:bodyPr/>
            <a:lstStyle/>
            <a:p>
              <a:pPr>
                <a:defRPr b="0" i="0" strike="noStrike" sz="900" u="none">
                  <a:solidFill>
                    <a:srgbClr val="16202E"/>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A4F"/>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DE2E8"/>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B3A4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DECK
This deck puts our detector, BudgetAwareConformal, side by side with four other detectors on every metric we measured, and says by how much it differs on each one.
THE FIVE DETECTORS
1. BudgetAwareConformal (ours): compares each user with their own history, groups 27 behaviour clues into four families (identity, resource, timing, volume), turns each family's deviation into a calibrated p-value, and explains every alert.
2. Isolation Forest: the standard unsupervised anomaly detector and our main rival. All pre-registered hypotheses compare against it.
3. LOF (Local Outlier Factor): a density method; flags points that sit in sparser regions than their neighbours.
4. Autoencoder: a neural network that learns to reconstruct normal days; days it reconstructs badly are flagged.
5. Rule signatures: hand-written rules (USB after hours, leak sites, job sites, etc.), the "traditional SOC" baseline.
ALL FIVE use the identical feature matrix (330,452 user-days x 27 features), the same test windows and the same alert budget, so differences come from the method, not the inputs.
COLOUR CODE USED THROUGHOUT
Amber = ours. Blue = Isolation Forest. Lighter blue = LOF. Grey = autoencoder. Light grey = rules.
WHERE THE NUMBERS COME FROM
All values are copied from the generated paper tables (docs/paper_ieee/generated), which are produced by scripts/build_ieee_paper.py from the results/ folder. No number in this deck was typed in by hand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SLIDE MATTERS
Every comparison later in the deck is only fair because of the rules on this slide.
DATA: CMU CERT r4.2 is a standard research benchmark generated by a simulator (ExactData for CMU SEI). It is not real employee data. 1,000 simulated users, 501 days, 32.8 million logged events (logons, USB, files, email, web). 70 planted insiders in three scenarios:
- S1: after-hours activity, USB use and uploads to leak sites (30 insiders)
- S2: job-hunting followed by copying files to USB before leaving (30 insiders)
- S3: a disgruntled admin who installs a keylogger and logs in as the boss (10 insiders)
Only about 0.30% of user-days are malicious, which is why precision numbers later look small.
ALERT BUDGET: a SOC analyst can only check about 10 alerts a day. So each detector scores every user-day, and only the top 10 per day count as alerts. This is the "operationally realistic" part of the title. We also report 50 and 100 per day.
NO PEEKING (LEAK-FREE PROTOCOL): time is split into training, validation and test. We use three rolling origins (three different splits) so a single lucky window cannot decide the result. All settings were chosen on validation only (49 candidate configurations) and frozen before the test months were touched. Only 33 of the 70 insiders are active inside the test windows; this small number is why many intervals are wide.
UNCERTAINTY: every key number has a 95% confidence interval from bootstrap resampling. The resampling unit follows the metric: insiders for detection rate and time to detection, days for precision. Pre-registered rule: a hypothesis is "supported" only if the entire interval lies beyond the threshold, not just the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 "PRE-REGISTERED HYPOTHESIS" IS
Before running the final test, we wrote down four promises and the bar each must clear. Writing them first stops us from moving the goalposts after seeing results.
HOW TO READ EACH COLUMN
- Ours / Isolation Forest: the measured value at 10 alerts per day on the test windows.
- Difference: relative difference (ours minus IF) divided by IF. The 95% CI is a paired bootstrap interval.
- Bar: the threshold fixed in advance.
- Verdict: "Supported" only if the WHOLE interval is beyond the bar.
H1a, DETECTION RATE: we catch 43.4% of test insiders vs 28.4% for IF, i.e. +53% relative (+15 percentage points). But the interval runs from -7% to +188%: with only 33 insiders, we cannot rule out "no gain". NOT SUPPORTED.
H1b, PRECISION: 2.8% of our alerts are real vs 0.7% for IF. Relative gain +329% (about 4.3x by the paired estimate). Even the worst end of the interval (+172%) is far above the +30% bar. SUPPORTED. This is the headline result.
H2, TIME TO DETECTION: median 20.9 h for ours vs 17.1 h for IF, so we are 22% SLOWER on the median, the opposite of the promise. The interval is enormous (-80% to +503%) because the median is taken over only the ~9-14 insiders each detector catches. NOT SUPPORTED. (Slide on time to detection explains why both are effectively "same day".)
H3, HUMAN TRIAGE: the triage study is designed and the materials are ready, but no verified reviewer responses are available yet, so no result is reported. It must not be shown as supported or not supported until the four reviewers' original sheets are in.
NOTE ON H2 VALUE: the hypothesis table pools runs slightly differently from the main table, so H2 shows 20.9 h / 17.1 h while the main table shows 23 h / 16 h. Both say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PRECISION
Precision = true-positive alerts / all alerts emitted. If a detector sends 10 alerts a day for 100 days (1,000 alerts) and 28 of them are on a real insider's malicious day, precision is 0.028.
Why it matters: precision is the analyst's hit rate. Low precision means most of the analyst's day is spent closing false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PRECISION@10
Definition: true-positive alerts divided by all alerts emitted, when exactly 10 alerts are sent per day. Pooled ("micro") over all test days and runs. A true positive is an alert on a user-day that is malicious according to the CERT answer files.
VALUES (test windows, 10 alerts/day)
- Ours: 0.028 (2.8 real alerts per 100)
- Isolation Forest: 0.007 (0.7 per 100)
- LOF: 0.014
- Autoencoder: 0.011
- Rule signatures: 0.010
HOW MUCH BETTER
- vs IF: 0.028 / 0.007 = 4.0x on the rounded values; the paired bootstrap estimate is +329% (4.3x), 95% CI +172% to +723%. This is hypothesis H1b, SUPPORTED.
- vs LOF: 2.0x (+0.014 absolute)
- vs autoencoder: 2.5x (+0.017)
- vs rules: 2.8x (+0.018)
In practical terms, over 100 working days (1,000 alerts) the analyst would see about 28 real alerts with ours vs about 7 with IF.
WHY ABSOLUTE PRECISION LOOKS LOW
Only 0.30% of user-days are malicious, and on most days fewer than 10 user-days are malicious at all. So even a perfect detector ("oracle") can reach only 0.230 precision at 10 alerts per day. Ours reaches 12% of that ceiling; IF reaches 3%. Compare detectors with each other and with the ceiling, not with 1.0.
TAKEAWAY: this is our clearest and most robust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PRECISION@B FOR B = 10, 50, 100
Same definition as the previous slide, repeated at three budgets.
VALUES
- @10: ours 0.028 | IF 0.007 | LOF 0.014 | AE 0.011 | rules 0.010
- @50: ours 0.019 | IF 0.004 | LOF 0.011 | AE 0.009 | rules 0.006
- @100: ours 0.015 | IF 0.006 | LOF 0.011 | AE 0.009 | rules 0.004
RATIOS (ours divided by each baseline, from the rounded values in the table)
- vs IF: 4.0x, 4.8x, 2.5x
- vs LOF: 2.0x, 1.7x, 1.4x
- vs AE: 2.5x, 2.1x, 1.7x
- vs rules: 2.8x, 3.2x, 3.8x
HOW TO READ IT
As the budget grows, every detector's precision drops, because the extra alerts go to user-days that look less suspicious. The gap narrows at 100 alerts/day because by then most detectors have found most of the obvious cases. Our detector is the most precise at every budget, so the precision advantage does not depend on picking B=10.
CAVEAT: only the B=10 comparison with IF is a pre-registered hypothesis (H1b). The B=50 and B=100 comparisons are descriptive.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DETECTION RATE
Detection rate (DR@B) = fraction of insiders active in the test windows who receive at least one alert on one of their own malicious days, at budget B. If 33 insiders are active and 14 are caught, DR = 0.42.
Why it matters: precision tells you how clean the queue is; detection rate tells you how many attackers you catch at all. A detector can be precise but still miss many insiders.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DETECTION RATE AT 10 ALERTS/DAY (DR@10)
Definition: fraction of the 33 insiders active in the test windows that get at least one alert on one of their own malicious days. "Their own" matters for scenario S3, where the attacker logs in as the boss: an alert on the boss's account does not count as catching the insider.
VALUES WITH 95% CI (bootstrap over insiders)
- Ours: 0.434 [0.28, 0.60], about 14 of 33
- Isolation Forest: 0.284 [0.15, 0.44], about 9 of 33
- LOF: 0.455 [0.30, 0.61]
- Autoencoder: 0.443 [0.31, 0.58]
- Rules: 0.288 [0.15, 0.44]
HOW MUCH DIFFERENT
- vs IF: +15 percentage points, +53% relative. Paired CI on the relative difference: -7% to +188%. Because the interval includes 0, H1a (+40% bar) is NOT SUPPORTED.
- vs LOF: 2 points lower (statistical tie)
- vs autoencoder: 1 point lower (tie)
- vs rules: +15 points
INTERPRETATION
On catching insiders at 10/day we beat IF and the rules on the point estimate, and tie with LOF and the autoencoder. The difference is in precision: LOF and the autoencoder reach the same detection rate while sending roughly twice as many false alarms (precision 0.014 and 0.011 vs our 0.028).
WHY THE INTERVALS ARE WIDE: with only 33 insiders, one insider caught or missed moves DR by 3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DETECTION RATE AT B = 10, 50, 100
Same definition as before, at three daily budgets.
VALUES
- Ours: 0.434 → 0.919 → 0.929
- Isolation Forest: 0.284 → 0.651 → 0.947
- LOF: 0.455 → 0.768 → 0.843
- Autoencoder: 0.443 → 0.776 → 0.892
- Rules: 0.288 → 0.485 → 0.547
GAPS (ours minus baseline, percentage points)
- vs IF: +15 @10, +27 @50, -2 @100
- vs LOF: -2, +15, +9
- vs AE: -1, +14, +4
- vs rules: +15, +43, +38
HOW TO READ IT
The 50-alerts-per-day point is where our detector separates most clearly: 92% of insiders caught vs 65% for IF, 77% for LOF and 78% for the autoencoder. At 100 per day, IF slightly overtakes us (95% vs 93%): with that many alerts, broad anomaly detection eventually reaches most insiders, but it does so at much lower precision (0.006 vs our 0.015).
CAVEAT: the B=50 and B=100 comparisons are descriptive, not pre-registered. Intervals at B=50 (ours 0.84-0.98, IF 0.51-0.78) do not overlap, which is a strong descriptive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DETECTION RATE AT 10/DAY, SPLIT BY ATTACK SCENARIO
n = number of insiders of that scenario active in the test windows.
S1 (n=13) after-hours activity, USB, leak-site uploads: ours 0.44 | IF 0.45 | LOF 0.38 | AE 0.47 | rules 0.46. All detectors are within 9 points; S1 is noisy and obvious, so every method finds about half.
S2 (n=17) job-site browsing then copying files to USB before leaving: ours 0.33 | IF 0.03 | LOF 0.41 | AE 0.32 | rules 0.15. This is the big difference: IF catches almost none (about 1 of 17 vs about 6 of 17 for ours), so ours is 11x IF (+30 points). These attacks unfold slowly over weeks and look normal against the whole company, but unusual against the person's own history, which is exactly what our per-user baseline measures. LOF is slightly higher (0.41).
S3 (n=3) disgruntled admin, keylogger, logs in as the boss: all ML detectors 1.00; rules 0.33. With only 3 insiders, this column says little.
WHY THIS SLIDE MATTERS: it shows where the overall detection gain over IF comes from: almost entirely S2. It also explains the earlier finding that ours ties LOF overall.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DETECTION RATE AT 10/DAY ON RANDOM SUBSETS OF USERS (ORGANISATION-SIZE SWEEP)
We re-ran every detector on random samples of 250 and 500 users, and on all 1,000. The budget stays at 10 alerts per day, so in a smaller company those 10 alerts cover a larger share of the people.
VALUES (means over runs)
- 250 users: ours 0.90 | IF 0.59 | LOF 0.94 | AE 0.76 | rules 0.52
- 500 users: ours 0.73 | IF 0.32 | LOF 0.69 | AE 0.61 | rules 0.21
- 1,000 users: ours 0.40 | IF 0.25 | LOF 0.47 | AE 0.40 | rules 0.24
GAPS vs ours (points): IF +31 / +41 / +15; LOF -4 / +4 / -7; AE +14 / +12 / 0; rules +38 / +52 / +16.
HOW TO READ IT
Everyone does better in a smaller organisation. Our lead over IF is large at every size (largest at 500 users). LOF stays our closest competitor on detection and is ahead at 250 and 1,000 users.
NOTE: the 1,000-user values (0.40 ours) are means over runs and differ slightly from the insider-pooled 0.434 in the main table. Same data, different averaging.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SPEED, RANKING AND COST
Three supporting metrics: time to detection (how quickly after the attack starts the first alert arrives), AUC-ROC (a whole-ranking score that ignores the budget), and runtime (seconds to fit and score one test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MEDIAN TIME TO DETECTION (MTTD), HOURS, AT 10 ALERTS/DAY
Definition: for each insider that a detector catches, hours from attack onset (first malicious event in the window) to the first alert. Alerts are a daily batch available at the end of the day, so detection time = 24:00 of the alerting day. Median over detected insiders only.
VALUES
- Ours: 23 h
- Isolation Forest: 16 h
- LOF: 141 h (about 6 days)
- Autoencoder: 63 h (about 2.6 days)
- Rules: 17 h
HOW MUCH DIFFERENT
- vs IF: ours is about 7 h slower on the median. The pre-registered H2 test (pooled slightly differently: 20.9 h vs 17.1 h, +22%, CI -80% to +503%) is NOT SUPPORTED.
- vs LOF: about 6x faster (118 h less).
- vs autoencoder: about 2.7x faster (40 h less).
WHY OURS AND IF ARE EFFECTIVELY TIED
1. The floor: since alerts come out once a day, the fastest possible detection is "the same day", 12-24 h after an attack that starts during working hours. Both sit inside that window.
2. Tiny samples: the median is over only the insiders each detector catches (about 14 for ours, about 9 for IF), so it swings a lot.
3. Survivorship: we catch about 5 more insiders, mostly slow S2 cases, which can be caught later in their campaign. IF never catches them, so they never count against IF's time.
TAKEAWAY: among detectors that catch as many insiders as we do (LOF, autoencoder), ours alerts much sooner.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AUC-ROC (AREA UNDER THE ROC CURVE)
Definition: the probability that a randomly chosen malicious user-day gets a higher score than a randomly chosen normal user-day. 0.5 = random guessing, 1.0 = perfect ranking. It is computed over every user-day in the test windows and ignores the alert budget.
VALUES
- Ours: 0.850
- Isolation Forest: 0.752 (ours +0.098)
- LOF: 0.781 (ours +0.069)
- Autoencoder: 0.759 (ours +0.091)
- Rules: 0.590 (ours +0.260)
WHY WE TREAT IT AS SECONDARY
AUC rewards good ordering anywhere in the list, including deep down where no analyst will ever look. The analyst only sees the top 10 per day. A detector can have a decent AUC and still waste its top 10 on false alarms. Example: LOF has the second-best AUC (0.781), yet its precision@10 is half ours. So the paper's main claims rest on budgeted metrics (precision@B, DR@B), and AUC is reported for completeness and comparison with other literature.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WALL-CLOCK SECONDS TO FIT AND SCORE ONE TEST WINDOW ON ALL 1,000 USERS
Measured on the same machine for every detector.
VALUES
- Ours: 0.5 s
- Isolation Forest: 8.4 s (ours 17x faster)
- LOF: 40.4 s (ours 81x faster)
- Autoencoder: 22.1 s (ours 44x faster)
- Rules: 0.1 s (no learning, only fixed checks; 5x faster than ours but with the lowest accuracy)
WHY IT MATTERS
Our detector only needs per-user medians and spreads plus a calibration step, no tree ensembles or neural network training. Sub-second refits mean the model can be updated every time a new batch of logs arrives without delaying the analyst's queue. All detectors are fast enough for a once-a-day batch, so this is a practical bonus rather than a decisive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WHY IT WORKS
Three analyses that explain the results: the ablation study (remove one part at a time), the precision of each explanation family, and the gap between validation and test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AN ABLATION IS
Remove (or change) one component at a time, re-run on the same test windows, and see what breaks. It shows which parts actually matter.
COMPONENTS
- C1 per-user baseline: compare each person with their own history.
- C2 conformal calibration: turn deviations into calibrated p-values.
- C3 family fusion: combine four family p-values (tuned choice: Bonferroni min-p).
- C4 suppression: don't re-alert the same person within N days (tuned value: 0, i.e. off).
- Families: identity, resource, timing (temporal), volume.
KEY RESULTS (DR@10, precision@10; change in precision vs full model 0.028)
- Full: 0.43, 0.028.
- Without C1 (population baseline): 0.28, 0.007 → precision -75%, exactly Isolation Forest's level. The per-user baseline is THE source of the gain.
- Without volume family: 0.39, 0.009 → precision -68%. Volume deviations carry most of the true alerts.
- Without resource family: DR drops to 0.30 (-13 points); precision about unchanged.
- Without identity family: DR 0.55 and precision 0.034 (+21%): identity alerts (new PCs) are almost always false, consistent with the explanations slide.
- Without C2 calibration: DR 0.63 (+20 points) but precision 0.021 (-25%).
- Fusion alternatives: Fisher gives DR 0.61 / precision 0.025; harmonic 0.49 / 0.029; Stouffer 0.17 / 0.006 (much worse, not shown in the table).
THE HONEST CAVEAT
Several variants beat the tuned configuration on the test set. We did NOT switch to them: the settings were chosen on validation before the test was opened, and switching after seeing test results would be data leakage. The paper reports these variants openly. This is also evidence that settings chosen on the development period did not fully transfer to later months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PRECISION BY PRIMARY EXPLANATION FAMILY
Every alert names the behaviour family that deviated most (identity, resource, timing or volume). We grouped all 2,064 alerts the frozen detector emitted at 10/day on the test windows (59 of them true) by that family and computed precision per group.
VALUES
- Volume: 10.7% true (3.7x the overall rate)
- Resource: 1.3%
- Timing: 0.8%
- Identity: 0.0% (no identity-explained alert was true)
- All alerts: 2.9%
Volume-explained alerts account for 78% of all true alerts.
WHAT IT MEANS FOR AN ANALYST
The explanation is not just text; it is a triage signal. Working the queue "volume first, identity last" reaches real insiders sooner than working it by score. This matches the ablation: removing the volume family destroys precision, removing the identity family improves it.
SHAP CROSS-CHECK
SHAP is an independent, widely used method for explaining model outputs. On 20 alerts we checked whether SHAP's most important feature was one our explanation named, and whether the families agreed: 20 of 20 (100%) on both. So our explanations reflect what actually drove the score.
WHAT IS NOT YET SHOWN: whether human reviewers make better TP/FP decisions from the explanation (hypothesis H3). That study awaits verified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VALIDATION vs TEST PERFORMANCE
Validation = the development period used to choose settings (49 configurations tried). Test = later months, opened once.
VALUES
- Ours: DR@10 0.789 (validation) → 0.434 (test), a 36-point drop. Precision 0.098 → 0.028, a 71% drop.
- Isolation Forest: DR@10 0.310 → 0.284 (-3 points). Precision 0.027 → 0.007 (-74%).
(On the chart, precision is multiplied by 10 so it is visible on the same axis.)
HOW TO READ IT
Our detection rate fell much more than IF's between validation and test. Two reasons: (1) we tuned settings on validation, so some optimism is expected (IF had nothing to tune); (2) behaviour drifts over time and a short development period does not cover it. Precision fell for both detectors by a similar proportion.
WHY WE SHOW THIS: test numbers are the ones claimed everywhere in the paper. Showing the drop openly lets a reviewer judge the risk of over-tuning. Future work: longer development period or rolling re-tuning.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SUMMARY
WIN
- Precision at 10 alerts/day: 0.028 vs 0.007 for Isolation Forest (about 4x; paired +329%, CI +172% to +723%, H1b SUPPORTED). 2.0x LOF, 2.5x autoencoder, 2.8x rules.
- Highest precision at every budget (10, 50, 100).
- Detection at 50/day: 0.92 vs 0.65 for IF (+27 points), 0.77 LOF, 0.78 AE.
- Scenario S2 (slow job-hunting leavers): 0.33 vs 0.03 for IF.
- AUC-ROC 0.850, highest of the five.
- 0.5 s per window: 17x faster than IF, 44x than the autoencoder, 81x than LOF.
TIE
- Detection at 10/day vs LOF (0.455) and autoencoder (0.443): within 2 points.
- Detection at 10/day vs IF: +15 points (+53%), but the interval includes zero, so H1a NOT SUPPORTED.
- Time to detection vs IF: both alert on the attack day.
LOSE / OPEN
- Median time to detection: 23 h vs 16 h for IF; H2 NOT SUPPORTED.
- At 100 alerts/day IF catches slightly more (0.95 vs 0.93), at much lower precision.
- Large validation-to-test drop: settings did not fully carry over.
- H3 (human triage from explanations) is pending until verified reviewer responses are collected.
ONE SENTENCE: comparing each person with their own past gives the analyst about four times more real alerts per day than the standard method, catches as many insiders as the best baselines while sending half the false alarms, and runs in under a second; it is not faster, and its detection advantage at 10 alerts/day is not statistically secure.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1620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3" name="Text 0"/>
          <p:cNvSpPr/>
          <p:nvPr>
            <p:ph idx="101" type="body" hasCustomPrompt="1"/>
          </p:nvPr>
        </p:nvSpPr>
        <p:spPr>
          <a:xfrm>
            <a:off x="731520" y="3657600"/>
            <a:ext cx="10698480" cy="12801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SECTION">
    <p:bg>
      <p:bgPr>
        <a:solidFill>
          <a:srgbClr val="2B3A4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9728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P20 · CMU CERT r4.2 test windows · 10 alerts/day unless stated</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nchor="b"/>
          <a:lstStyle/>
          <a:p>
            <a:pPr indent="0" marL="0">
              <a:buNone/>
            </a:pPr>
            <a:r>
              <a:rPr lang="en-US" sz="4400" b="1" dirty="0">
                <a:solidFill>
                  <a:schemeClr val="bg1"/>
                </a:solidFill>
              </a:rPr>
              <a:t>How BudgetAwareConformal compares</a:t>
            </a:r>
            <a:endParaRPr lang="en-US" sz="4400" dirty="0"/>
          </a:p>
        </p:txBody>
      </p:sp>
      <p:sp>
        <p:nvSpPr>
          <p:cNvPr id="3" name="Text 0"/>
          <p:cNvSpPr/>
          <p:nvPr>
            <p:ph idx="101" type="body" hasCustomPrompt="1"/>
          </p:nvPr>
        </p:nvSpPr>
        <p:spPr>
          <a:xfrm>
            <a:off x="731520" y="3657600"/>
            <a:ext cx="10698480" cy="1280160"/>
          </a:xfrm>
          <a:prstGeom prst="rect">
            <a:avLst/>
          </a:prstGeom>
          <a:noFill/>
          <a:ln/>
        </p:spPr>
        <p:txBody>
          <a:bodyPr wrap="square" rtlCol="0" anchor="t"/>
          <a:lstStyle/>
          <a:p>
            <a:pPr indent="0" marL="0">
              <a:buNone/>
            </a:pPr>
            <a:r>
              <a:rPr lang="en-US" sz="2000" dirty="0">
                <a:solidFill>
                  <a:schemeClr val="bg2"/>
                </a:solidFill>
              </a:rPr>
              <a:t>Every comparison metric, with the size of each difference · CMU CERT r4.2 · five detectors · fixed daily alert budgets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000" b="1" dirty="0">
                <a:solidFill>
                  <a:schemeClr val="tx1"/>
                </a:solidFill>
              </a:rPr>
              <a:t>Same data, same budget, same rules for every detector</a:t>
            </a:r>
            <a:endParaRPr lang="en-US" sz="3000" dirty="0"/>
          </a:p>
        </p:txBody>
      </p:sp>
      <p:sp>
        <p:nvSpPr>
          <p:cNvPr id="3" name="card Data"/>
          <p:cNvSpPr/>
          <p:nvPr/>
        </p:nvSpPr>
        <p:spPr>
          <a:xfrm>
            <a:off x="548640" y="1417320"/>
            <a:ext cx="3611880" cy="2331720"/>
          </a:xfrm>
          <a:prstGeom prst="roundRect">
            <a:avLst>
              <a:gd name="adj" fmla="val 3137"/>
            </a:avLst>
          </a:prstGeom>
          <a:solidFill>
            <a:schemeClr val="bg2"/>
          </a:solidFill>
          <a:ln/>
        </p:spPr>
      </p:sp>
      <p:sp>
        <p:nvSpPr>
          <p:cNvPr id="4" name="Text 2"/>
          <p:cNvSpPr txBox="1"/>
          <p:nvPr/>
        </p:nvSpPr>
        <p:spPr>
          <a:xfrm>
            <a:off x="731520" y="1554480"/>
            <a:ext cx="3246120" cy="411480"/>
          </a:xfrm>
          <a:prstGeom prst="rect">
            <a:avLst/>
          </a:prstGeom>
          <a:noFill/>
          <a:ln/>
        </p:spPr>
        <p:txBody>
          <a:bodyPr wrap="square" lIns="0" tIns="0" rIns="0" bIns="0" rtlCol="0" anchor="t"/>
          <a:lstStyle/>
          <a:p>
            <a:pPr indent="0" marL="0">
              <a:buNone/>
            </a:pPr>
            <a:r>
              <a:rPr lang="en-US" sz="1800" b="1" dirty="0">
                <a:solidFill>
                  <a:schemeClr val="tx1"/>
                </a:solidFill>
              </a:rPr>
              <a:t>Data</a:t>
            </a:r>
            <a:endParaRPr lang="en-US" sz="1800" dirty="0"/>
          </a:p>
        </p:txBody>
      </p:sp>
      <p:sp>
        <p:nvSpPr>
          <p:cNvPr id="5" name="Text 3"/>
          <p:cNvSpPr txBox="1"/>
          <p:nvPr/>
        </p:nvSpPr>
        <p:spPr>
          <a:xfrm>
            <a:off x="731520" y="2011680"/>
            <a:ext cx="3246120" cy="1600200"/>
          </a:xfrm>
          <a:prstGeom prst="rect">
            <a:avLst/>
          </a:prstGeom>
          <a:noFill/>
          <a:ln/>
        </p:spPr>
        <p:txBody>
          <a:bodyPr wrap="square" lIns="0" tIns="0" rIns="0" bIns="0" rtlCol="0" anchor="t"/>
          <a:lstStyle/>
          <a:p>
            <a:pPr indent="0" marL="0">
              <a:spcAft>
                <a:spcPts val="800"/>
              </a:spcAft>
              <a:buNone/>
            </a:pPr>
            <a:r>
              <a:rPr lang="en-US" sz="1600" dirty="0">
                <a:solidFill>
                  <a:schemeClr val="tx2"/>
                </a:solidFill>
              </a:rPr>
              <a:t>CMU CERT r4.2 benchmark (simulated company)</a:t>
            </a:r>
            <a:endParaRPr lang="en-US" sz="1600" dirty="0"/>
          </a:p>
          <a:p>
            <a:pPr indent="0" marL="0">
              <a:spcAft>
                <a:spcPts val="800"/>
              </a:spcAft>
              <a:buNone/>
            </a:pPr>
            <a:r>
              <a:rPr lang="en-US" sz="1600" dirty="0">
                <a:solidFill>
                  <a:schemeClr val="tx2"/>
                </a:solidFill>
              </a:rPr>
              <a:t>1,000 users · 501 days · 32.8 M events</a:t>
            </a:r>
            <a:endParaRPr lang="en-US" sz="1600" dirty="0"/>
          </a:p>
          <a:p>
            <a:pPr indent="0" marL="0">
              <a:spcAft>
                <a:spcPts val="800"/>
              </a:spcAft>
              <a:buNone/>
            </a:pPr>
            <a:r>
              <a:rPr lang="en-US" sz="1600" dirty="0">
                <a:solidFill>
                  <a:schemeClr val="tx2"/>
                </a:solidFill>
              </a:rPr>
              <a:t>70 insiders in 3 attack scenarios</a:t>
            </a:r>
            <a:endParaRPr lang="en-US" sz="1600" dirty="0"/>
          </a:p>
        </p:txBody>
      </p:sp>
      <p:sp>
        <p:nvSpPr>
          <p:cNvPr id="6" name="card Alert budget"/>
          <p:cNvSpPr/>
          <p:nvPr/>
        </p:nvSpPr>
        <p:spPr>
          <a:xfrm>
            <a:off x="4288536" y="1417320"/>
            <a:ext cx="3611880" cy="2331720"/>
          </a:xfrm>
          <a:prstGeom prst="roundRect">
            <a:avLst>
              <a:gd name="adj" fmla="val 3137"/>
            </a:avLst>
          </a:prstGeom>
          <a:solidFill>
            <a:schemeClr val="bg2"/>
          </a:solidFill>
          <a:ln/>
        </p:spPr>
      </p:sp>
      <p:sp>
        <p:nvSpPr>
          <p:cNvPr id="7" name="Text 5"/>
          <p:cNvSpPr txBox="1"/>
          <p:nvPr/>
        </p:nvSpPr>
        <p:spPr>
          <a:xfrm>
            <a:off x="4471416" y="1554480"/>
            <a:ext cx="3246120" cy="411480"/>
          </a:xfrm>
          <a:prstGeom prst="rect">
            <a:avLst/>
          </a:prstGeom>
          <a:noFill/>
          <a:ln/>
        </p:spPr>
        <p:txBody>
          <a:bodyPr wrap="square" lIns="0" tIns="0" rIns="0" bIns="0" rtlCol="0" anchor="t"/>
          <a:lstStyle/>
          <a:p>
            <a:pPr indent="0" marL="0">
              <a:buNone/>
            </a:pPr>
            <a:r>
              <a:rPr lang="en-US" sz="1800" b="1" dirty="0">
                <a:solidFill>
                  <a:schemeClr val="tx1"/>
                </a:solidFill>
              </a:rPr>
              <a:t>Alert budget</a:t>
            </a:r>
            <a:endParaRPr lang="en-US" sz="1800" dirty="0"/>
          </a:p>
        </p:txBody>
      </p:sp>
      <p:sp>
        <p:nvSpPr>
          <p:cNvPr id="8" name="Text 6"/>
          <p:cNvSpPr txBox="1"/>
          <p:nvPr/>
        </p:nvSpPr>
        <p:spPr>
          <a:xfrm>
            <a:off x="4471416" y="2011680"/>
            <a:ext cx="3246120" cy="1600200"/>
          </a:xfrm>
          <a:prstGeom prst="rect">
            <a:avLst/>
          </a:prstGeom>
          <a:noFill/>
          <a:ln/>
        </p:spPr>
        <p:txBody>
          <a:bodyPr wrap="square" lIns="0" tIns="0" rIns="0" bIns="0" rtlCol="0" anchor="t"/>
          <a:lstStyle/>
          <a:p>
            <a:pPr indent="0" marL="0">
              <a:spcAft>
                <a:spcPts val="800"/>
              </a:spcAft>
              <a:buNone/>
            </a:pPr>
            <a:r>
              <a:rPr lang="en-US" sz="1600" dirty="0">
                <a:solidFill>
                  <a:schemeClr val="tx2"/>
                </a:solidFill>
              </a:rPr>
              <a:t>Each day only the top 10 scored user-days reach the analyst</a:t>
            </a:r>
            <a:endParaRPr lang="en-US" sz="1600" dirty="0"/>
          </a:p>
          <a:p>
            <a:pPr indent="0" marL="0">
              <a:spcAft>
                <a:spcPts val="800"/>
              </a:spcAft>
              <a:buNone/>
            </a:pPr>
            <a:r>
              <a:rPr lang="en-US" sz="1600" dirty="0">
                <a:solidFill>
                  <a:schemeClr val="tx2"/>
                </a:solidFill>
              </a:rPr>
              <a:t>Also reported at 50 and 100 per day</a:t>
            </a:r>
            <a:endParaRPr lang="en-US" sz="1600" dirty="0"/>
          </a:p>
        </p:txBody>
      </p:sp>
      <p:sp>
        <p:nvSpPr>
          <p:cNvPr id="9" name="card Detectors"/>
          <p:cNvSpPr/>
          <p:nvPr/>
        </p:nvSpPr>
        <p:spPr>
          <a:xfrm>
            <a:off x="8028432" y="1417320"/>
            <a:ext cx="3611880" cy="2331720"/>
          </a:xfrm>
          <a:prstGeom prst="roundRect">
            <a:avLst>
              <a:gd name="adj" fmla="val 3137"/>
            </a:avLst>
          </a:prstGeom>
          <a:solidFill>
            <a:schemeClr val="bg2"/>
          </a:solidFill>
          <a:ln/>
        </p:spPr>
      </p:sp>
      <p:sp>
        <p:nvSpPr>
          <p:cNvPr id="10" name="Text 8"/>
          <p:cNvSpPr txBox="1"/>
          <p:nvPr/>
        </p:nvSpPr>
        <p:spPr>
          <a:xfrm>
            <a:off x="8211312" y="1554480"/>
            <a:ext cx="3246120" cy="411480"/>
          </a:xfrm>
          <a:prstGeom prst="rect">
            <a:avLst/>
          </a:prstGeom>
          <a:noFill/>
          <a:ln/>
        </p:spPr>
        <p:txBody>
          <a:bodyPr wrap="square" lIns="0" tIns="0" rIns="0" bIns="0" rtlCol="0" anchor="t"/>
          <a:lstStyle/>
          <a:p>
            <a:pPr indent="0" marL="0">
              <a:buNone/>
            </a:pPr>
            <a:r>
              <a:rPr lang="en-US" sz="1800" b="1" dirty="0">
                <a:solidFill>
                  <a:schemeClr val="tx1"/>
                </a:solidFill>
              </a:rPr>
              <a:t>Detectors</a:t>
            </a:r>
            <a:endParaRPr lang="en-US" sz="1800" dirty="0"/>
          </a:p>
        </p:txBody>
      </p:sp>
      <p:sp>
        <p:nvSpPr>
          <p:cNvPr id="11" name="Text 9"/>
          <p:cNvSpPr txBox="1"/>
          <p:nvPr/>
        </p:nvSpPr>
        <p:spPr>
          <a:xfrm>
            <a:off x="8211312" y="2011680"/>
            <a:ext cx="3246120" cy="1600200"/>
          </a:xfrm>
          <a:prstGeom prst="rect">
            <a:avLst/>
          </a:prstGeom>
          <a:noFill/>
          <a:ln/>
        </p:spPr>
        <p:txBody>
          <a:bodyPr wrap="square" lIns="0" tIns="0" rIns="0" bIns="0" rtlCol="0" anchor="t"/>
          <a:lstStyle/>
          <a:p>
            <a:pPr indent="0" marL="0">
              <a:spcAft>
                <a:spcPts val="800"/>
              </a:spcAft>
              <a:buNone/>
            </a:pPr>
            <a:r>
              <a:rPr lang="en-US" sz="1600" dirty="0">
                <a:solidFill>
                  <a:schemeClr val="tx2"/>
                </a:solidFill>
              </a:rPr>
              <a:t>Ours vs Isolation Forest (main rival), LOF, autoencoder, rule signatures</a:t>
            </a:r>
            <a:endParaRPr lang="en-US" sz="1600" dirty="0"/>
          </a:p>
          <a:p>
            <a:pPr indent="0" marL="0">
              <a:spcAft>
                <a:spcPts val="800"/>
              </a:spcAft>
              <a:buNone/>
            </a:pPr>
            <a:r>
              <a:rPr lang="en-US" sz="1600" dirty="0">
                <a:solidFill>
                  <a:schemeClr val="tx2"/>
                </a:solidFill>
              </a:rPr>
              <a:t>Identical 27-feature input</a:t>
            </a:r>
            <a:endParaRPr lang="en-US" sz="1600" dirty="0"/>
          </a:p>
        </p:txBody>
      </p:sp>
      <p:sp>
        <p:nvSpPr>
          <p:cNvPr id="12" name="card No peeking"/>
          <p:cNvSpPr/>
          <p:nvPr/>
        </p:nvSpPr>
        <p:spPr>
          <a:xfrm>
            <a:off x="548640" y="3931920"/>
            <a:ext cx="5486400" cy="2240280"/>
          </a:xfrm>
          <a:prstGeom prst="roundRect">
            <a:avLst>
              <a:gd name="adj" fmla="val 3265"/>
            </a:avLst>
          </a:prstGeom>
          <a:solidFill>
            <a:schemeClr val="bg2"/>
          </a:solidFill>
          <a:ln/>
        </p:spPr>
      </p:sp>
      <p:sp>
        <p:nvSpPr>
          <p:cNvPr id="13" name="Text 11"/>
          <p:cNvSpPr txBox="1"/>
          <p:nvPr/>
        </p:nvSpPr>
        <p:spPr>
          <a:xfrm>
            <a:off x="731520" y="4069080"/>
            <a:ext cx="5120640" cy="411480"/>
          </a:xfrm>
          <a:prstGeom prst="rect">
            <a:avLst/>
          </a:prstGeom>
          <a:noFill/>
          <a:ln/>
        </p:spPr>
        <p:txBody>
          <a:bodyPr wrap="square" lIns="0" tIns="0" rIns="0" bIns="0" rtlCol="0" anchor="t"/>
          <a:lstStyle/>
          <a:p>
            <a:pPr indent="0" marL="0">
              <a:buNone/>
            </a:pPr>
            <a:r>
              <a:rPr lang="en-US" sz="1800" b="1" dirty="0">
                <a:solidFill>
                  <a:schemeClr val="tx1"/>
                </a:solidFill>
              </a:rPr>
              <a:t>No peeking</a:t>
            </a:r>
            <a:endParaRPr lang="en-US" sz="1800" dirty="0"/>
          </a:p>
        </p:txBody>
      </p:sp>
      <p:sp>
        <p:nvSpPr>
          <p:cNvPr id="14" name="Text 12"/>
          <p:cNvSpPr txBox="1"/>
          <p:nvPr/>
        </p:nvSpPr>
        <p:spPr>
          <a:xfrm>
            <a:off x="731520" y="4526280"/>
            <a:ext cx="5120640" cy="1508760"/>
          </a:xfrm>
          <a:prstGeom prst="rect">
            <a:avLst/>
          </a:prstGeom>
          <a:noFill/>
          <a:ln/>
        </p:spPr>
        <p:txBody>
          <a:bodyPr wrap="square" lIns="0" tIns="0" rIns="0" bIns="0" rtlCol="0" anchor="t"/>
          <a:lstStyle/>
          <a:p>
            <a:pPr indent="0" marL="0">
              <a:spcAft>
                <a:spcPts val="800"/>
              </a:spcAft>
              <a:buNone/>
            </a:pPr>
            <a:r>
              <a:rPr lang="en-US" sz="1600" dirty="0">
                <a:solidFill>
                  <a:schemeClr val="tx2"/>
                </a:solidFill>
              </a:rPr>
              <a:t>3 rolling time windows: train → validate → test</a:t>
            </a:r>
            <a:endParaRPr lang="en-US" sz="1600" dirty="0"/>
          </a:p>
          <a:p>
            <a:pPr indent="0" marL="0">
              <a:spcAft>
                <a:spcPts val="800"/>
              </a:spcAft>
              <a:buNone/>
            </a:pPr>
            <a:r>
              <a:rPr lang="en-US" sz="1600" dirty="0">
                <a:solidFill>
                  <a:schemeClr val="tx2"/>
                </a:solidFill>
              </a:rPr>
              <a:t>Settings tuned on validation only, then frozen</a:t>
            </a:r>
            <a:endParaRPr lang="en-US" sz="1600" dirty="0"/>
          </a:p>
          <a:p>
            <a:pPr indent="0" marL="0">
              <a:spcAft>
                <a:spcPts val="800"/>
              </a:spcAft>
              <a:buNone/>
            </a:pPr>
            <a:r>
              <a:rPr lang="en-US" sz="1600" dirty="0">
                <a:solidFill>
                  <a:schemeClr val="tx2"/>
                </a:solidFill>
              </a:rPr>
              <a:t>33 insiders are active in the test windows</a:t>
            </a:r>
            <a:endParaRPr lang="en-US" sz="1600" dirty="0"/>
          </a:p>
        </p:txBody>
      </p:sp>
      <p:sp>
        <p:nvSpPr>
          <p:cNvPr id="15" name="card Uncertainty"/>
          <p:cNvSpPr/>
          <p:nvPr/>
        </p:nvSpPr>
        <p:spPr>
          <a:xfrm>
            <a:off x="6153912" y="3931920"/>
            <a:ext cx="5486400" cy="2240280"/>
          </a:xfrm>
          <a:prstGeom prst="roundRect">
            <a:avLst>
              <a:gd name="adj" fmla="val 3265"/>
            </a:avLst>
          </a:prstGeom>
          <a:solidFill>
            <a:schemeClr val="bg2"/>
          </a:solidFill>
          <a:ln/>
        </p:spPr>
      </p:sp>
      <p:sp>
        <p:nvSpPr>
          <p:cNvPr id="16" name="Text 14"/>
          <p:cNvSpPr txBox="1"/>
          <p:nvPr/>
        </p:nvSpPr>
        <p:spPr>
          <a:xfrm>
            <a:off x="6336792" y="4069080"/>
            <a:ext cx="5120640" cy="411480"/>
          </a:xfrm>
          <a:prstGeom prst="rect">
            <a:avLst/>
          </a:prstGeom>
          <a:noFill/>
          <a:ln/>
        </p:spPr>
        <p:txBody>
          <a:bodyPr wrap="square" lIns="0" tIns="0" rIns="0" bIns="0" rtlCol="0" anchor="t"/>
          <a:lstStyle/>
          <a:p>
            <a:pPr indent="0" marL="0">
              <a:buNone/>
            </a:pPr>
            <a:r>
              <a:rPr lang="en-US" sz="1800" b="1" dirty="0">
                <a:solidFill>
                  <a:schemeClr val="tx1"/>
                </a:solidFill>
              </a:rPr>
              <a:t>Uncertainty</a:t>
            </a:r>
            <a:endParaRPr lang="en-US" sz="1800" dirty="0"/>
          </a:p>
        </p:txBody>
      </p:sp>
      <p:sp>
        <p:nvSpPr>
          <p:cNvPr id="17" name="Text 15"/>
          <p:cNvSpPr txBox="1"/>
          <p:nvPr/>
        </p:nvSpPr>
        <p:spPr>
          <a:xfrm>
            <a:off x="6336792" y="4526280"/>
            <a:ext cx="5120640" cy="1508760"/>
          </a:xfrm>
          <a:prstGeom prst="rect">
            <a:avLst/>
          </a:prstGeom>
          <a:noFill/>
          <a:ln/>
        </p:spPr>
        <p:txBody>
          <a:bodyPr wrap="square" lIns="0" tIns="0" rIns="0" bIns="0" rtlCol="0" anchor="t"/>
          <a:lstStyle/>
          <a:p>
            <a:pPr indent="0" marL="0">
              <a:spcAft>
                <a:spcPts val="800"/>
              </a:spcAft>
              <a:buNone/>
            </a:pPr>
            <a:r>
              <a:rPr lang="en-US" sz="1600" dirty="0">
                <a:solidFill>
                  <a:schemeClr val="tx2"/>
                </a:solidFill>
              </a:rPr>
              <a:t>95% intervals by resampling insiders (detection) or days (precision)</a:t>
            </a:r>
            <a:endParaRPr lang="en-US" sz="1600" dirty="0"/>
          </a:p>
          <a:p>
            <a:pPr indent="0" marL="0">
              <a:spcAft>
                <a:spcPts val="800"/>
              </a:spcAft>
              <a:buNone/>
            </a:pPr>
            <a:r>
              <a:rPr lang="en-US" sz="1600" dirty="0">
                <a:solidFill>
                  <a:schemeClr val="tx2"/>
                </a:solidFill>
              </a:rPr>
              <a:t>A hypothesis passes only if the whole interval clears its bar</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000" b="1" dirty="0">
                <a:solidFill>
                  <a:schemeClr val="tx1"/>
                </a:solidFill>
              </a:rPr>
              <a:t>Scorecard: one of three tested promises is supported</a:t>
            </a:r>
            <a:endParaRPr lang="en-US" sz="3000" dirty="0"/>
          </a:p>
        </p:txBody>
      </p:sp>
      <p:graphicFrame>
        <p:nvGraphicFramePr>
          <p:cNvPr id="4" name="hypothesis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640080"/>
                <a:gridCol w="3657600"/>
                <a:gridCol w="914400"/>
                <a:gridCol w="1417320"/>
                <a:gridCol w="2148840"/>
                <a:gridCol w="822960"/>
                <a:gridCol w="1463040"/>
              </a:tblGrid>
              <a:tr h="566928">
                <a:tc>
                  <a:txBody>
                    <a:bodyPr/>
                    <a:lstStyle/>
                    <a:p>
                      <a:pPr indent="0" marL="0">
                        <a:buNone/>
                      </a:pP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400" b="1" dirty="0">
                          <a:solidFill>
                            <a:srgbClr val="FFFFFF"/>
                          </a:solidFill>
                        </a:rPr>
                        <a:t>Promise (vs Isolation Forest, 10/day)</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400" b="1" dirty="0">
                          <a:solidFill>
                            <a:srgbClr val="FFFFFF"/>
                          </a:solidFill>
                        </a:rPr>
                        <a:t>Ours</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400" b="1" dirty="0">
                          <a:solidFill>
                            <a:srgbClr val="FFFFFF"/>
                          </a:solidFill>
                        </a:rPr>
                        <a:t>Isolation Forest</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400" b="1" dirty="0">
                          <a:solidFill>
                            <a:srgbClr val="FFFFFF"/>
                          </a:solidFill>
                        </a:rPr>
                        <a:t>Difference [95% CI]</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400" b="1" dirty="0">
                          <a:solidFill>
                            <a:srgbClr val="FFFFFF"/>
                          </a:solidFill>
                        </a:rPr>
                        <a:t>Bar</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400" b="1" dirty="0">
                          <a:solidFill>
                            <a:srgbClr val="FFFFFF"/>
                          </a:solidFill>
                        </a:rPr>
                        <a:t>Verdict</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r>
              <a:tr h="566928">
                <a:tc>
                  <a:txBody>
                    <a:bodyPr/>
                    <a:lstStyle/>
                    <a:p>
                      <a:pPr indent="0" marL="0">
                        <a:buNone/>
                      </a:pPr>
                      <a:r>
                        <a:rPr lang="en-US" sz="1400" dirty="0">
                          <a:solidFill>
                            <a:srgbClr val="16202E"/>
                          </a:solidFill>
                        </a:rPr>
                        <a:t>H1a</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Catch at least 40% more insiders</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0.434</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0.284</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+53% [−7%, +188%]</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+40%</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rPr>
                        <a:t>Not supported</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C2483A"/>
                    </a:solidFill>
                  </a:tcPr>
                </a:tc>
              </a:tr>
              <a:tr h="566928">
                <a:tc>
                  <a:txBody>
                    <a:bodyPr/>
                    <a:lstStyle/>
                    <a:p>
                      <a:pPr indent="0" marL="0">
                        <a:buNone/>
                      </a:pPr>
                      <a:r>
                        <a:rPr lang="en-US" sz="1400" dirty="0">
                          <a:solidFill>
                            <a:srgbClr val="16202E"/>
                          </a:solidFill>
                        </a:rPr>
                        <a:t>H1b</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At least 30% higher precision</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0.028</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0.007</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+329% [+172%, +723%]</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+30%</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algn="ctr" indent="0" marL="0">
                        <a:buNone/>
                      </a:pPr>
                      <a:r>
                        <a:rPr lang="en-US" sz="1300" b="1" dirty="0">
                          <a:solidFill>
                            <a:srgbClr val="FFFFFF"/>
                          </a:solidFill>
                        </a:rPr>
                        <a:t>Supported</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E8B62"/>
                    </a:solidFill>
                  </a:tcPr>
                </a:tc>
              </a:tr>
              <a:tr h="566928">
                <a:tc>
                  <a:txBody>
                    <a:bodyPr/>
                    <a:lstStyle/>
                    <a:p>
                      <a:pPr indent="0" marL="0">
                        <a:buNone/>
                      </a:pPr>
                      <a:r>
                        <a:rPr lang="en-US" sz="1400" dirty="0">
                          <a:solidFill>
                            <a:srgbClr val="16202E"/>
                          </a:solidFill>
                        </a:rPr>
                        <a:t>H2</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Detect at least 25% faster (median hours)</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20.9 h</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17.1 h</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+22% [−80%, +503%]</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−25%</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rPr>
                        <a:t>Not supported</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C2483A"/>
                    </a:solidFill>
                  </a:tcPr>
                </a:tc>
              </a:tr>
              <a:tr h="566928">
                <a:tc>
                  <a:txBody>
                    <a:bodyPr/>
                    <a:lstStyle/>
                    <a:p>
                      <a:pPr indent="0" marL="0">
                        <a:buNone/>
                      </a:pPr>
                      <a:r>
                        <a:rPr lang="en-US" sz="1400" dirty="0">
                          <a:solidFill>
                            <a:srgbClr val="16202E"/>
                          </a:solidFill>
                        </a:rPr>
                        <a:t>H3</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Reviewers triage ≥20 points better from the explanation than from the score</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+20 pts</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algn="ctr" indent="0" marL="0">
                        <a:buNone/>
                      </a:pPr>
                      <a:r>
                        <a:rPr lang="en-US" sz="1300" b="1" dirty="0">
                          <a:solidFill>
                            <a:srgbClr val="FFFFFF"/>
                          </a:solidFill>
                        </a:rPr>
                        <a:t>Pending</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8A9AB0"/>
                    </a:solidFill>
                  </a:tcPr>
                </a:tc>
              </a:tr>
            </a:tbl>
          </a:graphicData>
        </a:graphic>
      </p:graphicFrame>
      <p:sp>
        <p:nvSpPr>
          <p:cNvPr id="4" name="Text 1"/>
          <p:cNvSpPr txBox="1"/>
          <p:nvPr/>
        </p:nvSpPr>
        <p:spPr>
          <a:xfrm>
            <a:off x="548640" y="4892040"/>
            <a:ext cx="11064240" cy="1097280"/>
          </a:xfrm>
          <a:prstGeom prst="rect">
            <a:avLst/>
          </a:prstGeom>
          <a:noFill/>
          <a:ln/>
        </p:spPr>
        <p:txBody>
          <a:bodyPr wrap="square" lIns="0" tIns="0" rIns="0" bIns="0" rtlCol="0" anchor="t"/>
          <a:lstStyle/>
          <a:p>
            <a:pPr indent="0" marL="0">
              <a:buNone/>
            </a:pPr>
            <a:r>
              <a:rPr lang="en-US" sz="1500" b="1" dirty="0">
                <a:solidFill>
                  <a:schemeClr val="tx2"/>
                </a:solidFill>
              </a:rPr>
              <a:t>Read it as: </a:t>
            </a:r>
            <a:pPr indent="0" marL="0">
              <a:buNone/>
            </a:pPr>
            <a:r>
              <a:rPr lang="en-US" sz="1500" dirty="0">
                <a:solidFill>
                  <a:schemeClr val="tx2"/>
                </a:solidFill>
              </a:rPr>
              <a:t>H1b is a clear win (even the low end of the interval is +172%). H1a points the right way but the interval includes zero. On speed we are not faster. H3 awaits verified reviewer responses.</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97280"/>
          </a:xfrm>
          <a:prstGeom prst="rect">
            <a:avLst/>
          </a:prstGeom>
          <a:noFill/>
          <a:ln/>
        </p:spPr>
        <p:txBody>
          <a:bodyPr wrap="square" rtlCol="0" anchor="b"/>
          <a:lstStyle/>
          <a:p>
            <a:pPr indent="0" marL="0">
              <a:buNone/>
            </a:pPr>
            <a:r>
              <a:rPr lang="en-US" sz="4000" b="1" dirty="0">
                <a:solidFill>
                  <a:schemeClr val="bg1"/>
                </a:solidFill>
              </a:rPr>
              <a:t>Precision</a:t>
            </a:r>
            <a:endParaRPr lang="en-US" sz="40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nchor="t"/>
          <a:lstStyle/>
          <a:p>
            <a:pPr indent="0" marL="0">
              <a:buNone/>
            </a:pPr>
            <a:r>
              <a:rPr lang="en-US" sz="2000" dirty="0">
                <a:solidFill>
                  <a:schemeClr val="bg2"/>
                </a:solidFill>
              </a:rPr>
              <a:t>Of the alerts an analyst opens, how many are real?</a:t>
            </a:r>
            <a:endParaRPr lang="en-US" sz="2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000" b="1" dirty="0">
                <a:solidFill>
                  <a:schemeClr val="tx1"/>
                </a:solidFill>
              </a:rPr>
              <a:t>Precision at 10 alerts/day: about 4× Isolation Forest</a:t>
            </a:r>
            <a:endParaRPr lang="en-US" sz="3000" dirty="0"/>
          </a:p>
        </p:txBody>
      </p:sp>
      <p:graphicFrame>
        <p:nvGraphicFramePr>
          <p:cNvPr id="3" name="precision at 10 chart" descr=""/>
          <p:cNvGraphicFramePr/>
          <p:nvPr/>
        </p:nvGraphicFramePr>
        <p:xfrm>
          <a:off x="457200" y="1280160"/>
          <a:ext cx="6949440" cy="4937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772400" y="1371600"/>
            <a:ext cx="3840480" cy="77724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4×</a:t>
            </a:r>
            <a:endParaRPr lang="en-US" sz="4000" dirty="0"/>
          </a:p>
        </p:txBody>
      </p:sp>
      <p:sp>
        <p:nvSpPr>
          <p:cNvPr id="5" name="Text 2"/>
          <p:cNvSpPr txBox="1"/>
          <p:nvPr/>
        </p:nvSpPr>
        <p:spPr>
          <a:xfrm>
            <a:off x="7772400" y="2176272"/>
            <a:ext cx="3840480" cy="548640"/>
          </a:xfrm>
          <a:prstGeom prst="rect">
            <a:avLst/>
          </a:prstGeom>
          <a:noFill/>
          <a:ln/>
        </p:spPr>
        <p:txBody>
          <a:bodyPr wrap="square" lIns="0" tIns="0" rIns="0" bIns="0" rtlCol="0" anchor="t"/>
          <a:lstStyle/>
          <a:p>
            <a:pPr indent="0" marL="0">
              <a:buNone/>
            </a:pPr>
            <a:r>
              <a:rPr lang="en-US" sz="1200" dirty="0">
                <a:solidFill>
                  <a:schemeClr val="tx2"/>
                </a:solidFill>
              </a:rPr>
              <a:t>vs Isolation Forest (0.028 vs 0.007; paired estimate +329%)</a:t>
            </a:r>
            <a:endParaRPr lang="en-US" sz="1200" dirty="0"/>
          </a:p>
        </p:txBody>
      </p:sp>
      <p:sp>
        <p:nvSpPr>
          <p:cNvPr id="6" name="Text 3"/>
          <p:cNvSpPr txBox="1"/>
          <p:nvPr/>
        </p:nvSpPr>
        <p:spPr>
          <a:xfrm>
            <a:off x="7772400" y="2743200"/>
            <a:ext cx="1828800" cy="77724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2.0×</a:t>
            </a:r>
            <a:endParaRPr lang="en-US" sz="4000" dirty="0"/>
          </a:p>
        </p:txBody>
      </p:sp>
      <p:sp>
        <p:nvSpPr>
          <p:cNvPr id="7" name="Text 4"/>
          <p:cNvSpPr txBox="1"/>
          <p:nvPr/>
        </p:nvSpPr>
        <p:spPr>
          <a:xfrm>
            <a:off x="7772400" y="3547872"/>
            <a:ext cx="1828800" cy="548640"/>
          </a:xfrm>
          <a:prstGeom prst="rect">
            <a:avLst/>
          </a:prstGeom>
          <a:noFill/>
          <a:ln/>
        </p:spPr>
        <p:txBody>
          <a:bodyPr wrap="square" lIns="0" tIns="0" rIns="0" bIns="0" rtlCol="0" anchor="t"/>
          <a:lstStyle/>
          <a:p>
            <a:pPr indent="0" marL="0">
              <a:buNone/>
            </a:pPr>
            <a:r>
              <a:rPr lang="en-US" sz="1200" dirty="0">
                <a:solidFill>
                  <a:schemeClr val="tx2"/>
                </a:solidFill>
              </a:rPr>
              <a:t>vs LOF</a:t>
            </a:r>
            <a:endParaRPr lang="en-US" sz="1200" dirty="0"/>
          </a:p>
        </p:txBody>
      </p:sp>
      <p:sp>
        <p:nvSpPr>
          <p:cNvPr id="8" name="Text 5"/>
          <p:cNvSpPr txBox="1"/>
          <p:nvPr/>
        </p:nvSpPr>
        <p:spPr>
          <a:xfrm>
            <a:off x="9692640" y="2743200"/>
            <a:ext cx="1920240" cy="77724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2.5×</a:t>
            </a:r>
            <a:endParaRPr lang="en-US" sz="4000" dirty="0"/>
          </a:p>
        </p:txBody>
      </p:sp>
      <p:sp>
        <p:nvSpPr>
          <p:cNvPr id="9" name="Text 6"/>
          <p:cNvSpPr txBox="1"/>
          <p:nvPr/>
        </p:nvSpPr>
        <p:spPr>
          <a:xfrm>
            <a:off x="9692640" y="3547872"/>
            <a:ext cx="1920240" cy="548640"/>
          </a:xfrm>
          <a:prstGeom prst="rect">
            <a:avLst/>
          </a:prstGeom>
          <a:noFill/>
          <a:ln/>
        </p:spPr>
        <p:txBody>
          <a:bodyPr wrap="square" lIns="0" tIns="0" rIns="0" bIns="0" rtlCol="0" anchor="t"/>
          <a:lstStyle/>
          <a:p>
            <a:pPr indent="0" marL="0">
              <a:buNone/>
            </a:pPr>
            <a:r>
              <a:rPr lang="en-US" sz="1200" dirty="0">
                <a:solidFill>
                  <a:schemeClr val="tx2"/>
                </a:solidFill>
              </a:rPr>
              <a:t>vs autoencoder</a:t>
            </a:r>
            <a:endParaRPr lang="en-US" sz="1200" dirty="0"/>
          </a:p>
        </p:txBody>
      </p:sp>
      <p:sp>
        <p:nvSpPr>
          <p:cNvPr id="10" name="Text 7"/>
          <p:cNvSpPr txBox="1"/>
          <p:nvPr/>
        </p:nvSpPr>
        <p:spPr>
          <a:xfrm>
            <a:off x="7772400" y="4114800"/>
            <a:ext cx="1828800" cy="77724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2.8×</a:t>
            </a:r>
            <a:endParaRPr lang="en-US" sz="4000" dirty="0"/>
          </a:p>
        </p:txBody>
      </p:sp>
      <p:sp>
        <p:nvSpPr>
          <p:cNvPr id="11" name="Text 8"/>
          <p:cNvSpPr txBox="1"/>
          <p:nvPr/>
        </p:nvSpPr>
        <p:spPr>
          <a:xfrm>
            <a:off x="7772400" y="4919472"/>
            <a:ext cx="1828800" cy="548640"/>
          </a:xfrm>
          <a:prstGeom prst="rect">
            <a:avLst/>
          </a:prstGeom>
          <a:noFill/>
          <a:ln/>
        </p:spPr>
        <p:txBody>
          <a:bodyPr wrap="square" lIns="0" tIns="0" rIns="0" bIns="0" rtlCol="0" anchor="t"/>
          <a:lstStyle/>
          <a:p>
            <a:pPr indent="0" marL="0">
              <a:buNone/>
            </a:pPr>
            <a:r>
              <a:rPr lang="en-US" sz="1200" dirty="0">
                <a:solidFill>
                  <a:schemeClr val="tx2"/>
                </a:solidFill>
              </a:rPr>
              <a:t>vs rules</a:t>
            </a:r>
            <a:endParaRPr lang="en-US" sz="1200" dirty="0"/>
          </a:p>
        </p:txBody>
      </p:sp>
      <p:sp>
        <p:nvSpPr>
          <p:cNvPr id="12" name="Text 9"/>
          <p:cNvSpPr txBox="1"/>
          <p:nvPr/>
        </p:nvSpPr>
        <p:spPr>
          <a:xfrm>
            <a:off x="9692640" y="4114800"/>
            <a:ext cx="1920240" cy="777240"/>
          </a:xfrm>
          <a:prstGeom prst="rect">
            <a:avLst/>
          </a:prstGeom>
          <a:noFill/>
          <a:ln/>
        </p:spPr>
        <p:txBody>
          <a:bodyPr wrap="square" lIns="0" tIns="0" rIns="0" bIns="0" rtlCol="0" anchor="b"/>
          <a:lstStyle/>
          <a:p>
            <a:pPr indent="0" marL="0">
              <a:buNone/>
            </a:pPr>
            <a:r>
              <a:rPr lang="en-US" sz="4000" b="1" dirty="0">
                <a:solidFill>
                  <a:schemeClr val="accent2"/>
                </a:solidFill>
                <a:latin typeface="Cambria" pitchFamily="34" charset="0"/>
                <a:ea typeface="Cambria" pitchFamily="34" charset="-122"/>
                <a:cs typeface="Cambria" pitchFamily="34" charset="-120"/>
              </a:rPr>
              <a:t>12%</a:t>
            </a:r>
            <a:endParaRPr lang="en-US" sz="4000" dirty="0"/>
          </a:p>
        </p:txBody>
      </p:sp>
      <p:sp>
        <p:nvSpPr>
          <p:cNvPr id="13" name="Text 10"/>
          <p:cNvSpPr txBox="1"/>
          <p:nvPr/>
        </p:nvSpPr>
        <p:spPr>
          <a:xfrm>
            <a:off x="9692640" y="4919472"/>
            <a:ext cx="1920240" cy="548640"/>
          </a:xfrm>
          <a:prstGeom prst="rect">
            <a:avLst/>
          </a:prstGeom>
          <a:noFill/>
          <a:ln/>
        </p:spPr>
        <p:txBody>
          <a:bodyPr wrap="square" lIns="0" tIns="0" rIns="0" bIns="0" rtlCol="0" anchor="t"/>
          <a:lstStyle/>
          <a:p>
            <a:pPr indent="0" marL="0">
              <a:buNone/>
            </a:pPr>
            <a:r>
              <a:rPr lang="en-US" sz="1200" dirty="0">
                <a:solidFill>
                  <a:schemeClr val="tx2"/>
                </a:solidFill>
              </a:rPr>
              <a:t>of the best possible (0.230); IF reaches 3%</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000" b="1" dirty="0">
                <a:solidFill>
                  <a:schemeClr val="tx1"/>
                </a:solidFill>
              </a:rPr>
              <a:t>Precision stays highest at every budget</a:t>
            </a:r>
            <a:endParaRPr lang="en-US" sz="3000" dirty="0"/>
          </a:p>
        </p:txBody>
      </p:sp>
      <p:graphicFrame>
        <p:nvGraphicFramePr>
          <p:cNvPr id="3" name="precision by budget chart" descr=""/>
          <p:cNvGraphicFramePr/>
          <p:nvPr/>
        </p:nvGraphicFramePr>
        <p:xfrm>
          <a:off x="457200" y="1280160"/>
          <a:ext cx="6766560" cy="493776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precision ratio table"/>
          <p:cNvGraphicFramePr>
            <a:graphicFrameLocks noGrp="1"/>
          </p:cNvGraphicFramePr>
          <p:nvPr>
            <p:extLst>
              <p:ext uri="{D42A27DB-BD31-4B8C-83A1-F6EECF244321}">
                <p14:modId xmlns:p14="http://schemas.microsoft.com/office/powerpoint/2010/main" val="1579011935"/>
              </p:ext>
            </p:extLst>
          </p:nvPr>
        </p:nvGraphicFramePr>
        <p:xfrm>
          <a:off x="7498080" y="1463040"/>
          <a:ext cx="4114800" cy="914400"/>
        </p:xfrm>
        <a:graphic>
          <a:graphicData uri="http://schemas.openxmlformats.org/drawingml/2006/table">
            <a:tbl>
              <a:tblPr/>
              <a:tblGrid>
                <a:gridCol w="1920240"/>
                <a:gridCol w="731520"/>
                <a:gridCol w="731520"/>
                <a:gridCol w="731520"/>
              </a:tblGrid>
              <a:tr h="438912">
                <a:tc>
                  <a:txBody>
                    <a:bodyPr/>
                    <a:lstStyle/>
                    <a:p>
                      <a:pPr indent="0" marL="0">
                        <a:buNone/>
                      </a:pPr>
                      <a:r>
                        <a:rPr lang="en-US" sz="1400" b="1" dirty="0">
                          <a:solidFill>
                            <a:srgbClr val="FFFFFF"/>
                          </a:solidFill>
                        </a:rPr>
                        <a:t>Ours is … ×</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400" b="1" dirty="0">
                          <a:solidFill>
                            <a:srgbClr val="FFFFFF"/>
                          </a:solidFill>
                        </a:rPr>
                        <a:t>@10</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400" b="1" dirty="0">
                          <a:solidFill>
                            <a:srgbClr val="FFFFFF"/>
                          </a:solidFill>
                        </a:rPr>
                        <a:t>@50</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400" b="1" dirty="0">
                          <a:solidFill>
                            <a:srgbClr val="FFFFFF"/>
                          </a:solidFill>
                        </a:rPr>
                        <a:t>@100</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r>
              <a:tr h="438912">
                <a:tc>
                  <a:txBody>
                    <a:bodyPr/>
                    <a:lstStyle/>
                    <a:p>
                      <a:pPr indent="0" marL="0">
                        <a:buNone/>
                      </a:pPr>
                      <a:r>
                        <a:rPr lang="en-US" sz="1400" dirty="0">
                          <a:solidFill>
                            <a:srgbClr val="16202E"/>
                          </a:solidFill>
                        </a:rPr>
                        <a:t>vs Isolation Forest</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4.0</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4.8</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2.5</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6202E"/>
                          </a:solidFill>
                        </a:rPr>
                        <a:t>vs LOF</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2.0</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1.7</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1.4</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r>
              <a:tr h="438912">
                <a:tc>
                  <a:txBody>
                    <a:bodyPr/>
                    <a:lstStyle/>
                    <a:p>
                      <a:pPr indent="0" marL="0">
                        <a:buNone/>
                      </a:pPr>
                      <a:r>
                        <a:rPr lang="en-US" sz="1400" dirty="0">
                          <a:solidFill>
                            <a:srgbClr val="16202E"/>
                          </a:solidFill>
                        </a:rPr>
                        <a:t>vs Autoencoder</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2.5</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2.1</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1.7</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6202E"/>
                          </a:solidFill>
                        </a:rPr>
                        <a:t>vs Rules</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2.8</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3.2</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3.8</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r>
            </a:tbl>
          </a:graphicData>
        </a:graphic>
      </p:graphicFrame>
      <p:sp>
        <p:nvSpPr>
          <p:cNvPr id="5" name="Text 1"/>
          <p:cNvSpPr txBox="1"/>
          <p:nvPr/>
        </p:nvSpPr>
        <p:spPr>
          <a:xfrm>
            <a:off x="7498080" y="4023360"/>
            <a:ext cx="4114800" cy="1645920"/>
          </a:xfrm>
          <a:prstGeom prst="rect">
            <a:avLst/>
          </a:prstGeom>
          <a:noFill/>
          <a:ln/>
        </p:spPr>
        <p:txBody>
          <a:bodyPr wrap="square" lIns="0" tIns="0" rIns="0" bIns="0" rtlCol="0" anchor="t"/>
          <a:lstStyle/>
          <a:p>
            <a:pPr indent="0" marL="0">
              <a:buNone/>
            </a:pPr>
            <a:r>
              <a:rPr lang="en-US" sz="1400" dirty="0">
                <a:solidFill>
                  <a:schemeClr val="tx2"/>
                </a:solidFill>
              </a:rPr>
              <a:t>Precision falls for everyone as the budget grows: extra alerts go to less suspicious user-days. Ours keeps the top spot at all three budgets.</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97280"/>
          </a:xfrm>
          <a:prstGeom prst="rect">
            <a:avLst/>
          </a:prstGeom>
          <a:noFill/>
          <a:ln/>
        </p:spPr>
        <p:txBody>
          <a:bodyPr wrap="square" rtlCol="0" anchor="b"/>
          <a:lstStyle/>
          <a:p>
            <a:pPr indent="0" marL="0">
              <a:buNone/>
            </a:pPr>
            <a:r>
              <a:rPr lang="en-US" sz="4000" b="1" dirty="0">
                <a:solidFill>
                  <a:schemeClr val="bg1"/>
                </a:solidFill>
              </a:rPr>
              <a:t>Detection rate</a:t>
            </a:r>
            <a:endParaRPr lang="en-US" sz="40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nchor="t"/>
          <a:lstStyle/>
          <a:p>
            <a:pPr indent="0" marL="0">
              <a:buNone/>
            </a:pPr>
            <a:r>
              <a:rPr lang="en-US" sz="2000" dirty="0">
                <a:solidFill>
                  <a:schemeClr val="bg2"/>
                </a:solidFill>
              </a:rPr>
              <a:t>Of the insiders active in the test months, how many get at least one alert?</a:t>
            </a:r>
            <a:endParaRPr lang="en-US" sz="2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000" b="1" dirty="0">
                <a:solidFill>
                  <a:schemeClr val="tx1"/>
                </a:solidFill>
              </a:rPr>
              <a:t>Detection at 10/day: +15 points over Isolation Forest</a:t>
            </a:r>
            <a:endParaRPr lang="en-US" sz="3000" dirty="0"/>
          </a:p>
        </p:txBody>
      </p:sp>
      <p:graphicFrame>
        <p:nvGraphicFramePr>
          <p:cNvPr id="3" name="detection at 10 chart" descr=""/>
          <p:cNvGraphicFramePr/>
          <p:nvPr/>
        </p:nvGraphicFramePr>
        <p:xfrm>
          <a:off x="457200" y="1280160"/>
          <a:ext cx="5669280" cy="493776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detection table"/>
          <p:cNvGraphicFramePr>
            <a:graphicFrameLocks noGrp="1"/>
          </p:cNvGraphicFramePr>
          <p:nvPr>
            <p:extLst>
              <p:ext uri="{D42A27DB-BD31-4B8C-83A1-F6EECF244321}">
                <p14:modId xmlns:p14="http://schemas.microsoft.com/office/powerpoint/2010/main" val="1579011935"/>
              </p:ext>
            </p:extLst>
          </p:nvPr>
        </p:nvGraphicFramePr>
        <p:xfrm>
          <a:off x="6400800" y="1463040"/>
          <a:ext cx="5212080" cy="914400"/>
        </p:xfrm>
        <a:graphic>
          <a:graphicData uri="http://schemas.openxmlformats.org/drawingml/2006/table">
            <a:tbl>
              <a:tblPr/>
              <a:tblGrid>
                <a:gridCol w="1828800"/>
                <a:gridCol w="2103120"/>
                <a:gridCol w="1280160"/>
              </a:tblGrid>
              <a:tr h="420624">
                <a:tc>
                  <a:txBody>
                    <a:bodyPr/>
                    <a:lstStyle/>
                    <a:p>
                      <a:pPr indent="0" marL="0">
                        <a:buNone/>
                      </a:pPr>
                      <a:r>
                        <a:rPr lang="en-US" sz="1400" b="1" dirty="0">
                          <a:solidFill>
                            <a:srgbClr val="FFFFFF"/>
                          </a:solidFill>
                        </a:rPr>
                        <a:t>Detector</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400" b="1" dirty="0">
                          <a:solidFill>
                            <a:srgbClr val="FFFFFF"/>
                          </a:solidFill>
                        </a:rPr>
                        <a:t>DR@10 [95% CI]</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400" b="1" dirty="0">
                          <a:solidFill>
                            <a:srgbClr val="FFFFFF"/>
                          </a:solidFill>
                        </a:rPr>
                        <a:t>vs ours</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r>
              <a:tr h="420624">
                <a:tc>
                  <a:txBody>
                    <a:bodyPr/>
                    <a:lstStyle/>
                    <a:p>
                      <a:pPr indent="0" marL="0">
                        <a:buNone/>
                      </a:pPr>
                      <a:r>
                        <a:rPr lang="en-US" sz="1400" b="1" dirty="0">
                          <a:solidFill>
                            <a:srgbClr val="16202E"/>
                          </a:solidFill>
                        </a:rPr>
                        <a:t>Ours</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BEBD2"/>
                    </a:solidFill>
                  </a:tcPr>
                </a:tc>
                <a:tc>
                  <a:txBody>
                    <a:bodyPr/>
                    <a:lstStyle/>
                    <a:p>
                      <a:pPr indent="0" marL="0">
                        <a:buNone/>
                      </a:pPr>
                      <a:r>
                        <a:rPr lang="en-US" sz="1400" b="1" dirty="0">
                          <a:solidFill>
                            <a:srgbClr val="16202E"/>
                          </a:solidFill>
                        </a:rPr>
                        <a:t>0.43 [0.28, 0.60]</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BEBD2"/>
                    </a:solidFill>
                  </a:tcPr>
                </a:tc>
                <a:tc>
                  <a:txBody>
                    <a:bodyPr/>
                    <a:lstStyle/>
                    <a:p>
                      <a:pPr indent="0" marL="0">
                        <a:buNone/>
                      </a:pPr>
                      <a:r>
                        <a:rPr lang="en-US" sz="1400" b="1" dirty="0">
                          <a:solidFill>
                            <a:srgbClr val="16202E"/>
                          </a:solidFill>
                        </a:rPr>
                        <a:t>—</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BEBD2"/>
                    </a:solidFill>
                  </a:tcPr>
                </a:tc>
              </a:tr>
              <a:tr h="420624">
                <a:tc>
                  <a:txBody>
                    <a:bodyPr/>
                    <a:lstStyle/>
                    <a:p>
                      <a:pPr indent="0" marL="0">
                        <a:buNone/>
                      </a:pPr>
                      <a:r>
                        <a:rPr lang="en-US" sz="1400" dirty="0">
                          <a:solidFill>
                            <a:srgbClr val="16202E"/>
                          </a:solidFill>
                        </a:rPr>
                        <a:t>Isolation Forest</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0.28 [0.15, 0.44]</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−15 pts</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r>
              <a:tr h="420624">
                <a:tc>
                  <a:txBody>
                    <a:bodyPr/>
                    <a:lstStyle/>
                    <a:p>
                      <a:pPr indent="0" marL="0">
                        <a:buNone/>
                      </a:pPr>
                      <a:r>
                        <a:rPr lang="en-US" sz="1400" dirty="0">
                          <a:solidFill>
                            <a:srgbClr val="16202E"/>
                          </a:solidFill>
                        </a:rPr>
                        <a:t>LOF</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0.45 [0.30, 0.61]</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+2 pts</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420624">
                <a:tc>
                  <a:txBody>
                    <a:bodyPr/>
                    <a:lstStyle/>
                    <a:p>
                      <a:pPr indent="0" marL="0">
                        <a:buNone/>
                      </a:pPr>
                      <a:r>
                        <a:rPr lang="en-US" sz="1400" dirty="0">
                          <a:solidFill>
                            <a:srgbClr val="16202E"/>
                          </a:solidFill>
                        </a:rPr>
                        <a:t>Autoencoder</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0.44 [0.31, 0.58]</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+1 pt</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r>
              <a:tr h="420624">
                <a:tc>
                  <a:txBody>
                    <a:bodyPr/>
                    <a:lstStyle/>
                    <a:p>
                      <a:pPr indent="0" marL="0">
                        <a:buNone/>
                      </a:pPr>
                      <a:r>
                        <a:rPr lang="en-US" sz="1400" dirty="0">
                          <a:solidFill>
                            <a:srgbClr val="16202E"/>
                          </a:solidFill>
                        </a:rPr>
                        <a:t>Rules</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0.29 [0.15, 0.44]</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−15 pts</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6400800" y="4251960"/>
            <a:ext cx="5212080" cy="1737360"/>
          </a:xfrm>
          <a:prstGeom prst="rect">
            <a:avLst/>
          </a:prstGeom>
          <a:noFill/>
          <a:ln/>
        </p:spPr>
        <p:txBody>
          <a:bodyPr wrap="square" lIns="0" tIns="0" rIns="0" bIns="0" rtlCol="0" anchor="t"/>
          <a:lstStyle/>
          <a:p>
            <a:pPr indent="0" marL="0">
              <a:buNone/>
            </a:pPr>
            <a:r>
              <a:rPr lang="en-US" sz="1400" dirty="0">
                <a:solidFill>
                  <a:schemeClr val="tx2"/>
                </a:solidFill>
              </a:rPr>
              <a:t>About 14 of 33 insiders caught vs about 9 for Isolation Forest (+53% relative), but the intervals overlap, so H1a is not supported. LOF and the autoencoder catch as many as we do, at about half our precision.</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000" b="1" dirty="0">
                <a:solidFill>
                  <a:schemeClr val="tx1"/>
                </a:solidFill>
              </a:rPr>
              <a:t>Detection by budget: the big lead is at 50 alerts/day</a:t>
            </a:r>
            <a:endParaRPr lang="en-US" sz="3000" dirty="0"/>
          </a:p>
        </p:txBody>
      </p:sp>
      <p:graphicFrame>
        <p:nvGraphicFramePr>
          <p:cNvPr id="3" name="detection by budget chart" descr=""/>
          <p:cNvGraphicFramePr/>
          <p:nvPr/>
        </p:nvGraphicFramePr>
        <p:xfrm>
          <a:off x="457200" y="1280160"/>
          <a:ext cx="6766560" cy="493776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detection gap table"/>
          <p:cNvGraphicFramePr>
            <a:graphicFrameLocks noGrp="1"/>
          </p:cNvGraphicFramePr>
          <p:nvPr>
            <p:extLst>
              <p:ext uri="{D42A27DB-BD31-4B8C-83A1-F6EECF244321}">
                <p14:modId xmlns:p14="http://schemas.microsoft.com/office/powerpoint/2010/main" val="1579011935"/>
              </p:ext>
            </p:extLst>
          </p:nvPr>
        </p:nvGraphicFramePr>
        <p:xfrm>
          <a:off x="7498080" y="1463040"/>
          <a:ext cx="4114800" cy="914400"/>
        </p:xfrm>
        <a:graphic>
          <a:graphicData uri="http://schemas.openxmlformats.org/drawingml/2006/table">
            <a:tbl>
              <a:tblPr/>
              <a:tblGrid>
                <a:gridCol w="1920240"/>
                <a:gridCol w="731520"/>
                <a:gridCol w="731520"/>
                <a:gridCol w="731520"/>
              </a:tblGrid>
              <a:tr h="438912">
                <a:tc>
                  <a:txBody>
                    <a:bodyPr/>
                    <a:lstStyle/>
                    <a:p>
                      <a:pPr indent="0" marL="0">
                        <a:buNone/>
                      </a:pPr>
                      <a:r>
                        <a:rPr lang="en-US" sz="1400" b="1" dirty="0">
                          <a:solidFill>
                            <a:srgbClr val="FFFFFF"/>
                          </a:solidFill>
                        </a:rPr>
                        <a:t>Ours minus …</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400" b="1" dirty="0">
                          <a:solidFill>
                            <a:srgbClr val="FFFFFF"/>
                          </a:solidFill>
                        </a:rPr>
                        <a:t>@10</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400" b="1" dirty="0">
                          <a:solidFill>
                            <a:srgbClr val="FFFFFF"/>
                          </a:solidFill>
                        </a:rPr>
                        <a:t>@50</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400" b="1" dirty="0">
                          <a:solidFill>
                            <a:srgbClr val="FFFFFF"/>
                          </a:solidFill>
                        </a:rPr>
                        <a:t>@100</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r>
              <a:tr h="438912">
                <a:tc>
                  <a:txBody>
                    <a:bodyPr/>
                    <a:lstStyle/>
                    <a:p>
                      <a:pPr indent="0" marL="0">
                        <a:buNone/>
                      </a:pPr>
                      <a:r>
                        <a:rPr lang="en-US" sz="1400" dirty="0">
                          <a:solidFill>
                            <a:srgbClr val="16202E"/>
                          </a:solidFill>
                        </a:rPr>
                        <a:t>Isolation Forest</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+15</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+27</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−2</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6202E"/>
                          </a:solidFill>
                        </a:rPr>
                        <a:t>LOF</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−2</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+15</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+9</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r>
              <a:tr h="438912">
                <a:tc>
                  <a:txBody>
                    <a:bodyPr/>
                    <a:lstStyle/>
                    <a:p>
                      <a:pPr indent="0" marL="0">
                        <a:buNone/>
                      </a:pPr>
                      <a:r>
                        <a:rPr lang="en-US" sz="1400" dirty="0">
                          <a:solidFill>
                            <a:srgbClr val="16202E"/>
                          </a:solidFill>
                        </a:rPr>
                        <a:t>Autoencoder</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−1</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+14</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6202E"/>
                          </a:solidFill>
                        </a:rPr>
                        <a:t>+4</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6202E"/>
                          </a:solidFill>
                        </a:rPr>
                        <a:t>Rules</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+15</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+43</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400" dirty="0">
                          <a:solidFill>
                            <a:srgbClr val="16202E"/>
                          </a:solidFill>
                        </a:rPr>
                        <a:t>+38</a:t>
                      </a:r>
                      <a:endParaRPr lang="en-US" sz="14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r>
            </a:tbl>
          </a:graphicData>
        </a:graphic>
      </p:graphicFrame>
      <p:sp>
        <p:nvSpPr>
          <p:cNvPr id="5" name="Text 1"/>
          <p:cNvSpPr txBox="1"/>
          <p:nvPr/>
        </p:nvSpPr>
        <p:spPr>
          <a:xfrm>
            <a:off x="7498080" y="4023360"/>
            <a:ext cx="4114800" cy="1645920"/>
          </a:xfrm>
          <a:prstGeom prst="rect">
            <a:avLst/>
          </a:prstGeom>
          <a:noFill/>
          <a:ln/>
        </p:spPr>
        <p:txBody>
          <a:bodyPr wrap="square" lIns="0" tIns="0" rIns="0" bIns="0" rtlCol="0" anchor="t"/>
          <a:lstStyle/>
          <a:p>
            <a:pPr indent="0" marL="0">
              <a:buNone/>
            </a:pPr>
            <a:r>
              <a:rPr lang="en-US" sz="1400" dirty="0">
                <a:solidFill>
                  <a:schemeClr val="tx2"/>
                </a:solidFill>
              </a:rPr>
              <a:t>Percentage points. At 50/day we catch 92% of insiders vs 65% for Isolation Forest. At 100/day almost everyone catches almost everyone.</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000" b="1" dirty="0">
                <a:solidFill>
                  <a:schemeClr val="tx1"/>
                </a:solidFill>
              </a:rPr>
              <a:t>By scenario: the gain comes from job-hunting leavers</a:t>
            </a:r>
            <a:endParaRPr lang="en-US" sz="3000" dirty="0"/>
          </a:p>
        </p:txBody>
      </p:sp>
      <p:graphicFrame>
        <p:nvGraphicFramePr>
          <p:cNvPr id="3" name="detection by scenario chart" descr=""/>
          <p:cNvGraphicFramePr/>
          <p:nvPr/>
        </p:nvGraphicFramePr>
        <p:xfrm>
          <a:off x="457200" y="1280160"/>
          <a:ext cx="7498080" cy="4937760"/>
        </p:xfrm>
        <a:graphic xmlns:a="http://schemas.openxmlformats.org/drawingml/2006/main">
          <a:graphicData uri="http://schemas.openxmlformats.org/drawingml/2006/chart">
            <c:chart xmlns:c="http://schemas.openxmlformats.org/drawingml/2006/chart" r:id="rId1"/>
          </a:graphicData>
        </a:graphic>
      </p:graphicFrame>
      <p:sp>
        <p:nvSpPr>
          <p:cNvPr id="4" name="card S2: 0.33 vs 0.03"/>
          <p:cNvSpPr/>
          <p:nvPr/>
        </p:nvSpPr>
        <p:spPr>
          <a:xfrm>
            <a:off x="8229600" y="1417320"/>
            <a:ext cx="3383280" cy="1463040"/>
          </a:xfrm>
          <a:prstGeom prst="roundRect">
            <a:avLst>
              <a:gd name="adj" fmla="val 5000"/>
            </a:avLst>
          </a:prstGeom>
          <a:solidFill>
            <a:schemeClr val="bg2"/>
          </a:solidFill>
          <a:ln/>
        </p:spPr>
      </p:sp>
      <p:sp>
        <p:nvSpPr>
          <p:cNvPr id="5" name="Text 2"/>
          <p:cNvSpPr txBox="1"/>
          <p:nvPr/>
        </p:nvSpPr>
        <p:spPr>
          <a:xfrm>
            <a:off x="8412480" y="1554480"/>
            <a:ext cx="3017520" cy="411480"/>
          </a:xfrm>
          <a:prstGeom prst="rect">
            <a:avLst/>
          </a:prstGeom>
          <a:noFill/>
          <a:ln/>
        </p:spPr>
        <p:txBody>
          <a:bodyPr wrap="square" lIns="0" tIns="0" rIns="0" bIns="0" rtlCol="0" anchor="t"/>
          <a:lstStyle/>
          <a:p>
            <a:pPr indent="0" marL="0">
              <a:buNone/>
            </a:pPr>
            <a:r>
              <a:rPr lang="en-US" sz="1600" b="1" dirty="0">
                <a:solidFill>
                  <a:schemeClr val="accent1"/>
                </a:solidFill>
              </a:rPr>
              <a:t>S2: 0.33 vs 0.03</a:t>
            </a:r>
            <a:endParaRPr lang="en-US" sz="1600" dirty="0"/>
          </a:p>
        </p:txBody>
      </p:sp>
      <p:sp>
        <p:nvSpPr>
          <p:cNvPr id="6" name="Text 3"/>
          <p:cNvSpPr txBox="1"/>
          <p:nvPr/>
        </p:nvSpPr>
        <p:spPr>
          <a:xfrm>
            <a:off x="8412480" y="2011680"/>
            <a:ext cx="3017520" cy="73152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11× Isolation Forest (+30 pts). The slow, month-long cases.</a:t>
            </a:r>
            <a:endParaRPr lang="en-US" sz="1400" dirty="0"/>
          </a:p>
        </p:txBody>
      </p:sp>
      <p:sp>
        <p:nvSpPr>
          <p:cNvPr id="7" name="card S1: tie"/>
          <p:cNvSpPr/>
          <p:nvPr/>
        </p:nvSpPr>
        <p:spPr>
          <a:xfrm>
            <a:off x="8229600" y="3017520"/>
            <a:ext cx="3383280" cy="1463040"/>
          </a:xfrm>
          <a:prstGeom prst="roundRect">
            <a:avLst>
              <a:gd name="adj" fmla="val 5000"/>
            </a:avLst>
          </a:prstGeom>
          <a:solidFill>
            <a:schemeClr val="bg2"/>
          </a:solidFill>
          <a:ln/>
        </p:spPr>
      </p:sp>
      <p:sp>
        <p:nvSpPr>
          <p:cNvPr id="8" name="Text 5"/>
          <p:cNvSpPr txBox="1"/>
          <p:nvPr/>
        </p:nvSpPr>
        <p:spPr>
          <a:xfrm>
            <a:off x="8412480" y="3154680"/>
            <a:ext cx="3017520" cy="411480"/>
          </a:xfrm>
          <a:prstGeom prst="rect">
            <a:avLst/>
          </a:prstGeom>
          <a:noFill/>
          <a:ln/>
        </p:spPr>
        <p:txBody>
          <a:bodyPr wrap="square" lIns="0" tIns="0" rIns="0" bIns="0" rtlCol="0" anchor="t"/>
          <a:lstStyle/>
          <a:p>
            <a:pPr indent="0" marL="0">
              <a:buNone/>
            </a:pPr>
            <a:r>
              <a:rPr lang="en-US" sz="1600" b="1" dirty="0">
                <a:solidFill>
                  <a:schemeClr val="tx1"/>
                </a:solidFill>
              </a:rPr>
              <a:t>S1: tie</a:t>
            </a:r>
            <a:endParaRPr lang="en-US" sz="1600" dirty="0"/>
          </a:p>
        </p:txBody>
      </p:sp>
      <p:sp>
        <p:nvSpPr>
          <p:cNvPr id="9" name="Text 6"/>
          <p:cNvSpPr txBox="1"/>
          <p:nvPr/>
        </p:nvSpPr>
        <p:spPr>
          <a:xfrm>
            <a:off x="8412480" y="3611880"/>
            <a:ext cx="3017520" cy="73152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0.44 vs 0.45 for IF; all detectors 0.38–0.47.</a:t>
            </a:r>
            <a:endParaRPr lang="en-US" sz="1400" dirty="0"/>
          </a:p>
        </p:txBody>
      </p:sp>
      <p:sp>
        <p:nvSpPr>
          <p:cNvPr id="10" name="card S3: all 1.00"/>
          <p:cNvSpPr/>
          <p:nvPr/>
        </p:nvSpPr>
        <p:spPr>
          <a:xfrm>
            <a:off x="8229600" y="4617720"/>
            <a:ext cx="3383280" cy="1463040"/>
          </a:xfrm>
          <a:prstGeom prst="roundRect">
            <a:avLst>
              <a:gd name="adj" fmla="val 5000"/>
            </a:avLst>
          </a:prstGeom>
          <a:solidFill>
            <a:schemeClr val="bg2"/>
          </a:solidFill>
          <a:ln/>
        </p:spPr>
      </p:sp>
      <p:sp>
        <p:nvSpPr>
          <p:cNvPr id="11" name="Text 8"/>
          <p:cNvSpPr txBox="1"/>
          <p:nvPr/>
        </p:nvSpPr>
        <p:spPr>
          <a:xfrm>
            <a:off x="8412480" y="4754880"/>
            <a:ext cx="3017520" cy="411480"/>
          </a:xfrm>
          <a:prstGeom prst="rect">
            <a:avLst/>
          </a:prstGeom>
          <a:noFill/>
          <a:ln/>
        </p:spPr>
        <p:txBody>
          <a:bodyPr wrap="square" lIns="0" tIns="0" rIns="0" bIns="0" rtlCol="0" anchor="t"/>
          <a:lstStyle/>
          <a:p>
            <a:pPr indent="0" marL="0">
              <a:buNone/>
            </a:pPr>
            <a:r>
              <a:rPr lang="en-US" sz="1600" b="1" dirty="0">
                <a:solidFill>
                  <a:schemeClr val="tx1"/>
                </a:solidFill>
              </a:rPr>
              <a:t>S3: all 1.00</a:t>
            </a:r>
            <a:endParaRPr lang="en-US" sz="1600" dirty="0"/>
          </a:p>
        </p:txBody>
      </p:sp>
      <p:sp>
        <p:nvSpPr>
          <p:cNvPr id="12" name="Text 9"/>
          <p:cNvSpPr txBox="1"/>
          <p:nvPr/>
        </p:nvSpPr>
        <p:spPr>
          <a:xfrm>
            <a:off x="8412480" y="5212080"/>
            <a:ext cx="3017520" cy="73152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Only 3 insiders; rules catch 1 of 3.</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000" b="1" dirty="0">
                <a:solidFill>
                  <a:schemeClr val="tx1"/>
                </a:solidFill>
              </a:rPr>
              <a:t>Smaller organisations: the same 10 alerts reach further</a:t>
            </a:r>
            <a:endParaRPr lang="en-US" sz="3000" dirty="0"/>
          </a:p>
        </p:txBody>
      </p:sp>
      <p:graphicFrame>
        <p:nvGraphicFramePr>
          <p:cNvPr id="3" name="org size chart" descr=""/>
          <p:cNvGraphicFramePr/>
          <p:nvPr/>
        </p:nvGraphicFramePr>
        <p:xfrm>
          <a:off x="457200" y="1280160"/>
          <a:ext cx="7498080" cy="493776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org size gap table"/>
          <p:cNvGraphicFramePr>
            <a:graphicFrameLocks noGrp="1"/>
          </p:cNvGraphicFramePr>
          <p:nvPr>
            <p:extLst>
              <p:ext uri="{D42A27DB-BD31-4B8C-83A1-F6EECF244321}">
                <p14:modId xmlns:p14="http://schemas.microsoft.com/office/powerpoint/2010/main" val="1579011935"/>
              </p:ext>
            </p:extLst>
          </p:nvPr>
        </p:nvGraphicFramePr>
        <p:xfrm>
          <a:off x="8229600" y="1463040"/>
          <a:ext cx="3383280" cy="914400"/>
        </p:xfrm>
        <a:graphic>
          <a:graphicData uri="http://schemas.openxmlformats.org/drawingml/2006/table">
            <a:tbl>
              <a:tblPr/>
              <a:tblGrid>
                <a:gridCol w="1463040"/>
                <a:gridCol w="640080"/>
                <a:gridCol w="640080"/>
                <a:gridCol w="640080"/>
              </a:tblGrid>
              <a:tr h="438912">
                <a:tc>
                  <a:txBody>
                    <a:bodyPr/>
                    <a:lstStyle/>
                    <a:p>
                      <a:pPr indent="0" marL="0">
                        <a:buNone/>
                      </a:pPr>
                      <a:r>
                        <a:rPr lang="en-US" sz="1300" b="1" dirty="0">
                          <a:solidFill>
                            <a:srgbClr val="FFFFFF"/>
                          </a:solidFill>
                        </a:rPr>
                        <a:t>Ours minus …</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300" b="1" dirty="0">
                          <a:solidFill>
                            <a:srgbClr val="FFFFFF"/>
                          </a:solidFill>
                        </a:rPr>
                        <a:t>250</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300" b="1" dirty="0">
                          <a:solidFill>
                            <a:srgbClr val="FFFFFF"/>
                          </a:solidFill>
                        </a:rPr>
                        <a:t>500</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300" b="1" dirty="0">
                          <a:solidFill>
                            <a:srgbClr val="FFFFFF"/>
                          </a:solidFill>
                        </a:rPr>
                        <a:t>1,000</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r>
              <a:tr h="438912">
                <a:tc>
                  <a:txBody>
                    <a:bodyPr/>
                    <a:lstStyle/>
                    <a:p>
                      <a:pPr indent="0" marL="0">
                        <a:buNone/>
                      </a:pPr>
                      <a:r>
                        <a:rPr lang="en-US" sz="1300" dirty="0">
                          <a:solidFill>
                            <a:srgbClr val="16202E"/>
                          </a:solidFill>
                        </a:rPr>
                        <a:t>Isolation Forest</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6202E"/>
                          </a:solidFill>
                        </a:rPr>
                        <a:t>+31</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6202E"/>
                          </a:solidFill>
                        </a:rPr>
                        <a:t>+41</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6202E"/>
                          </a:solidFill>
                        </a:rPr>
                        <a:t>+15</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6202E"/>
                          </a:solidFill>
                        </a:rPr>
                        <a:t>LOF</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300" dirty="0">
                          <a:solidFill>
                            <a:srgbClr val="16202E"/>
                          </a:solidFill>
                        </a:rPr>
                        <a:t>−4</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300" dirty="0">
                          <a:solidFill>
                            <a:srgbClr val="16202E"/>
                          </a:solidFill>
                        </a:rPr>
                        <a:t>+4</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300" dirty="0">
                          <a:solidFill>
                            <a:srgbClr val="16202E"/>
                          </a:solidFill>
                        </a:rPr>
                        <a:t>−7</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r>
              <a:tr h="438912">
                <a:tc>
                  <a:txBody>
                    <a:bodyPr/>
                    <a:lstStyle/>
                    <a:p>
                      <a:pPr indent="0" marL="0">
                        <a:buNone/>
                      </a:pPr>
                      <a:r>
                        <a:rPr lang="en-US" sz="1300" dirty="0">
                          <a:solidFill>
                            <a:srgbClr val="16202E"/>
                          </a:solidFill>
                        </a:rPr>
                        <a:t>Autoencoder</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6202E"/>
                          </a:solidFill>
                        </a:rPr>
                        <a:t>+14</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6202E"/>
                          </a:solidFill>
                        </a:rPr>
                        <a:t>+12</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6202E"/>
                          </a:solidFill>
                        </a:rPr>
                        <a:t>0</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6202E"/>
                          </a:solidFill>
                        </a:rPr>
                        <a:t>Rules</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300" dirty="0">
                          <a:solidFill>
                            <a:srgbClr val="16202E"/>
                          </a:solidFill>
                        </a:rPr>
                        <a:t>+38</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300" dirty="0">
                          <a:solidFill>
                            <a:srgbClr val="16202E"/>
                          </a:solidFill>
                        </a:rPr>
                        <a:t>+52</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300" dirty="0">
                          <a:solidFill>
                            <a:srgbClr val="16202E"/>
                          </a:solidFill>
                        </a:rPr>
                        <a:t>+16</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r>
            </a:tbl>
          </a:graphicData>
        </a:graphic>
      </p:graphicFrame>
      <p:sp>
        <p:nvSpPr>
          <p:cNvPr id="5" name="Text 1"/>
          <p:cNvSpPr txBox="1"/>
          <p:nvPr/>
        </p:nvSpPr>
        <p:spPr>
          <a:xfrm>
            <a:off x="8229600" y="4023360"/>
            <a:ext cx="3383280" cy="1280160"/>
          </a:xfrm>
          <a:prstGeom prst="rect">
            <a:avLst/>
          </a:prstGeom>
          <a:noFill/>
          <a:ln/>
        </p:spPr>
        <p:txBody>
          <a:bodyPr wrap="square" lIns="0" tIns="0" rIns="0" bIns="0" rtlCol="0" anchor="t"/>
          <a:lstStyle/>
          <a:p>
            <a:pPr indent="0" marL="0">
              <a:buNone/>
            </a:pPr>
            <a:r>
              <a:rPr lang="en-US" sz="1400" dirty="0">
                <a:solidFill>
                  <a:schemeClr val="tx2"/>
                </a:solidFill>
              </a:rPr>
              <a:t>Percentage points, DR@10. Biggest lead over Isolation Forest at 500 users (+41).</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97280"/>
          </a:xfrm>
          <a:prstGeom prst="rect">
            <a:avLst/>
          </a:prstGeom>
          <a:noFill/>
          <a:ln/>
        </p:spPr>
        <p:txBody>
          <a:bodyPr wrap="square" rtlCol="0" anchor="b"/>
          <a:lstStyle/>
          <a:p>
            <a:pPr indent="0" marL="0">
              <a:buNone/>
            </a:pPr>
            <a:r>
              <a:rPr lang="en-US" sz="4000" b="1" dirty="0">
                <a:solidFill>
                  <a:schemeClr val="bg1"/>
                </a:solidFill>
              </a:rPr>
              <a:t>Speed, ranking and cost</a:t>
            </a:r>
            <a:endParaRPr lang="en-US" sz="40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nchor="t"/>
          <a:lstStyle/>
          <a:p>
            <a:pPr indent="0" marL="0">
              <a:buNone/>
            </a:pPr>
            <a:r>
              <a:rPr lang="en-US" sz="2000" dirty="0">
                <a:solidFill>
                  <a:schemeClr val="bg2"/>
                </a:solidFill>
              </a:rPr>
              <a:t>How fast, how well it ranks overall, and how much compute it needs</a:t>
            </a:r>
            <a:endParaRPr lang="en-US" sz="2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000" b="1" dirty="0">
                <a:solidFill>
                  <a:schemeClr val="tx1"/>
                </a:solidFill>
              </a:rPr>
              <a:t>Time to detection: not faster than Isolation Forest</a:t>
            </a:r>
            <a:endParaRPr lang="en-US" sz="3000" dirty="0"/>
          </a:p>
        </p:txBody>
      </p:sp>
      <p:graphicFrame>
        <p:nvGraphicFramePr>
          <p:cNvPr id="3" name="time to detection chart" descr=""/>
          <p:cNvGraphicFramePr/>
          <p:nvPr/>
        </p:nvGraphicFramePr>
        <p:xfrm>
          <a:off x="457200" y="1280160"/>
          <a:ext cx="6766560" cy="4937760"/>
        </p:xfrm>
        <a:graphic xmlns:a="http://schemas.openxmlformats.org/drawingml/2006/main">
          <a:graphicData uri="http://schemas.openxmlformats.org/drawingml/2006/chart">
            <c:chart xmlns:c="http://schemas.openxmlformats.org/drawingml/2006/chart" r:id="rId1"/>
          </a:graphicData>
        </a:graphic>
      </p:graphicFrame>
      <p:sp>
        <p:nvSpPr>
          <p:cNvPr id="4" name="card vs Isolation Forest: not faster"/>
          <p:cNvSpPr/>
          <p:nvPr/>
        </p:nvSpPr>
        <p:spPr>
          <a:xfrm>
            <a:off x="7589520" y="1417320"/>
            <a:ext cx="4023360" cy="1508760"/>
          </a:xfrm>
          <a:prstGeom prst="roundRect">
            <a:avLst>
              <a:gd name="adj" fmla="val 4848"/>
            </a:avLst>
          </a:prstGeom>
          <a:solidFill>
            <a:schemeClr val="bg2"/>
          </a:solidFill>
          <a:ln/>
        </p:spPr>
      </p:sp>
      <p:sp>
        <p:nvSpPr>
          <p:cNvPr id="5" name="Text 2"/>
          <p:cNvSpPr txBox="1"/>
          <p:nvPr/>
        </p:nvSpPr>
        <p:spPr>
          <a:xfrm>
            <a:off x="7772400" y="1554480"/>
            <a:ext cx="3657600" cy="411480"/>
          </a:xfrm>
          <a:prstGeom prst="rect">
            <a:avLst/>
          </a:prstGeom>
          <a:noFill/>
          <a:ln/>
        </p:spPr>
        <p:txBody>
          <a:bodyPr wrap="square" lIns="0" tIns="0" rIns="0" bIns="0" rtlCol="0" anchor="t"/>
          <a:lstStyle/>
          <a:p>
            <a:pPr indent="0" marL="0">
              <a:buNone/>
            </a:pPr>
            <a:r>
              <a:rPr lang="en-US" sz="1600" b="1" dirty="0">
                <a:solidFill>
                  <a:schemeClr val="tx1"/>
                </a:solidFill>
              </a:rPr>
              <a:t>vs Isolation Forest: not faster</a:t>
            </a:r>
            <a:endParaRPr lang="en-US" sz="1600" dirty="0"/>
          </a:p>
        </p:txBody>
      </p:sp>
      <p:sp>
        <p:nvSpPr>
          <p:cNvPr id="6" name="Text 3"/>
          <p:cNvSpPr txBox="1"/>
          <p:nvPr/>
        </p:nvSpPr>
        <p:spPr>
          <a:xfrm>
            <a:off x="7772400" y="2011680"/>
            <a:ext cx="3657600" cy="77724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23 h vs 16 h. Both alert on the attack day: a daily batch has a 12–24 h floor.</a:t>
            </a:r>
            <a:endParaRPr lang="en-US" sz="1400" dirty="0"/>
          </a:p>
        </p:txBody>
      </p:sp>
      <p:sp>
        <p:nvSpPr>
          <p:cNvPr id="7" name="card vs LOF: 6× faster"/>
          <p:cNvSpPr/>
          <p:nvPr/>
        </p:nvSpPr>
        <p:spPr>
          <a:xfrm>
            <a:off x="7589520" y="3063240"/>
            <a:ext cx="4023360" cy="1508760"/>
          </a:xfrm>
          <a:prstGeom prst="roundRect">
            <a:avLst>
              <a:gd name="adj" fmla="val 4848"/>
            </a:avLst>
          </a:prstGeom>
          <a:solidFill>
            <a:schemeClr val="bg2"/>
          </a:solidFill>
          <a:ln/>
        </p:spPr>
      </p:sp>
      <p:sp>
        <p:nvSpPr>
          <p:cNvPr id="8" name="Text 5"/>
          <p:cNvSpPr txBox="1"/>
          <p:nvPr/>
        </p:nvSpPr>
        <p:spPr>
          <a:xfrm>
            <a:off x="7772400" y="3200400"/>
            <a:ext cx="3657600" cy="411480"/>
          </a:xfrm>
          <a:prstGeom prst="rect">
            <a:avLst/>
          </a:prstGeom>
          <a:noFill/>
          <a:ln/>
        </p:spPr>
        <p:txBody>
          <a:bodyPr wrap="square" lIns="0" tIns="0" rIns="0" bIns="0" rtlCol="0" anchor="t"/>
          <a:lstStyle/>
          <a:p>
            <a:pPr indent="0" marL="0">
              <a:buNone/>
            </a:pPr>
            <a:r>
              <a:rPr lang="en-US" sz="1600" b="1" dirty="0">
                <a:solidFill>
                  <a:schemeClr val="tx1"/>
                </a:solidFill>
              </a:rPr>
              <a:t>vs LOF: 6× faster</a:t>
            </a:r>
            <a:endParaRPr lang="en-US" sz="1600" dirty="0"/>
          </a:p>
        </p:txBody>
      </p:sp>
      <p:sp>
        <p:nvSpPr>
          <p:cNvPr id="9" name="Text 6"/>
          <p:cNvSpPr txBox="1"/>
          <p:nvPr/>
        </p:nvSpPr>
        <p:spPr>
          <a:xfrm>
            <a:off x="7772400" y="3657600"/>
            <a:ext cx="3657600" cy="77724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23 h vs 141 h, at a similar detection rate.</a:t>
            </a:r>
            <a:endParaRPr lang="en-US" sz="1400" dirty="0"/>
          </a:p>
        </p:txBody>
      </p:sp>
      <p:sp>
        <p:nvSpPr>
          <p:cNvPr id="10" name="card vs autoencoder: 2.7× faster"/>
          <p:cNvSpPr/>
          <p:nvPr/>
        </p:nvSpPr>
        <p:spPr>
          <a:xfrm>
            <a:off x="7589520" y="4709160"/>
            <a:ext cx="4023360" cy="1508760"/>
          </a:xfrm>
          <a:prstGeom prst="roundRect">
            <a:avLst>
              <a:gd name="adj" fmla="val 4848"/>
            </a:avLst>
          </a:prstGeom>
          <a:solidFill>
            <a:schemeClr val="bg2"/>
          </a:solidFill>
          <a:ln/>
        </p:spPr>
      </p:sp>
      <p:sp>
        <p:nvSpPr>
          <p:cNvPr id="11" name="Text 8"/>
          <p:cNvSpPr txBox="1"/>
          <p:nvPr/>
        </p:nvSpPr>
        <p:spPr>
          <a:xfrm>
            <a:off x="7772400" y="4846320"/>
            <a:ext cx="3657600" cy="411480"/>
          </a:xfrm>
          <a:prstGeom prst="rect">
            <a:avLst/>
          </a:prstGeom>
          <a:noFill/>
          <a:ln/>
        </p:spPr>
        <p:txBody>
          <a:bodyPr wrap="square" lIns="0" tIns="0" rIns="0" bIns="0" rtlCol="0" anchor="t"/>
          <a:lstStyle/>
          <a:p>
            <a:pPr indent="0" marL="0">
              <a:buNone/>
            </a:pPr>
            <a:r>
              <a:rPr lang="en-US" sz="1600" b="1" dirty="0">
                <a:solidFill>
                  <a:schemeClr val="tx1"/>
                </a:solidFill>
              </a:rPr>
              <a:t>vs autoencoder: 2.7× faster</a:t>
            </a:r>
            <a:endParaRPr lang="en-US" sz="1600" dirty="0"/>
          </a:p>
        </p:txBody>
      </p:sp>
      <p:sp>
        <p:nvSpPr>
          <p:cNvPr id="12" name="Text 9"/>
          <p:cNvSpPr txBox="1"/>
          <p:nvPr/>
        </p:nvSpPr>
        <p:spPr>
          <a:xfrm>
            <a:off x="7772400" y="5303520"/>
            <a:ext cx="3657600" cy="77724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23 h vs 63 h, at a similar detection rate.</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000" b="1" dirty="0">
                <a:solidFill>
                  <a:schemeClr val="tx1"/>
                </a:solidFill>
              </a:rPr>
              <a:t>AUC-ROC: highest overall, but a secondary metric</a:t>
            </a:r>
            <a:endParaRPr lang="en-US" sz="3000" dirty="0"/>
          </a:p>
        </p:txBody>
      </p:sp>
      <p:graphicFrame>
        <p:nvGraphicFramePr>
          <p:cNvPr id="3" name="auc chart" descr=""/>
          <p:cNvGraphicFramePr/>
          <p:nvPr/>
        </p:nvGraphicFramePr>
        <p:xfrm>
          <a:off x="457200" y="1280160"/>
          <a:ext cx="6766560" cy="4937760"/>
        </p:xfrm>
        <a:graphic xmlns:a="http://schemas.openxmlformats.org/drawingml/2006/main">
          <a:graphicData uri="http://schemas.openxmlformats.org/drawingml/2006/chart">
            <c:chart xmlns:c="http://schemas.openxmlformats.org/drawingml/2006/chart" r:id="rId1"/>
          </a:graphicData>
        </a:graphic>
      </p:graphicFrame>
      <p:sp>
        <p:nvSpPr>
          <p:cNvPr id="4" name="card Ours leads by 0.07–0.26"/>
          <p:cNvSpPr/>
          <p:nvPr/>
        </p:nvSpPr>
        <p:spPr>
          <a:xfrm>
            <a:off x="7589520" y="1417320"/>
            <a:ext cx="4023360" cy="2103120"/>
          </a:xfrm>
          <a:prstGeom prst="roundRect">
            <a:avLst>
              <a:gd name="adj" fmla="val 3478"/>
            </a:avLst>
          </a:prstGeom>
          <a:solidFill>
            <a:schemeClr val="bg2"/>
          </a:solidFill>
          <a:ln/>
        </p:spPr>
      </p:sp>
      <p:sp>
        <p:nvSpPr>
          <p:cNvPr id="5" name="Text 2"/>
          <p:cNvSpPr txBox="1"/>
          <p:nvPr/>
        </p:nvSpPr>
        <p:spPr>
          <a:xfrm>
            <a:off x="7772400" y="1554480"/>
            <a:ext cx="3657600" cy="411480"/>
          </a:xfrm>
          <a:prstGeom prst="rect">
            <a:avLst/>
          </a:prstGeom>
          <a:noFill/>
          <a:ln/>
        </p:spPr>
        <p:txBody>
          <a:bodyPr wrap="square" lIns="0" tIns="0" rIns="0" bIns="0" rtlCol="0" anchor="t"/>
          <a:lstStyle/>
          <a:p>
            <a:pPr indent="0" marL="0">
              <a:buNone/>
            </a:pPr>
            <a:r>
              <a:rPr lang="en-US" sz="1600" b="1" dirty="0">
                <a:solidFill>
                  <a:schemeClr val="tx1"/>
                </a:solidFill>
              </a:rPr>
              <a:t>Ours leads by 0.07–0.26</a:t>
            </a:r>
            <a:endParaRPr lang="en-US" sz="1600" dirty="0"/>
          </a:p>
        </p:txBody>
      </p:sp>
      <p:sp>
        <p:nvSpPr>
          <p:cNvPr id="6" name="Text 3"/>
          <p:cNvSpPr txBox="1"/>
          <p:nvPr/>
        </p:nvSpPr>
        <p:spPr>
          <a:xfrm>
            <a:off x="7772400" y="2011680"/>
            <a:ext cx="3657600" cy="137160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+0.098 vs Isolation Forest</a:t>
            </a:r>
            <a:endParaRPr lang="en-US" sz="1400" dirty="0"/>
          </a:p>
          <a:p>
            <a:pPr indent="0" marL="0">
              <a:spcAft>
                <a:spcPts val="400"/>
              </a:spcAft>
              <a:buNone/>
            </a:pPr>
            <a:r>
              <a:rPr lang="en-US" sz="1400" dirty="0">
                <a:solidFill>
                  <a:schemeClr val="tx2"/>
                </a:solidFill>
              </a:rPr>
              <a:t>+0.069 vs LOF · +0.091 vs autoencoder</a:t>
            </a:r>
            <a:endParaRPr lang="en-US" sz="1400" dirty="0"/>
          </a:p>
          <a:p>
            <a:pPr indent="0" marL="0">
              <a:spcAft>
                <a:spcPts val="400"/>
              </a:spcAft>
              <a:buNone/>
            </a:pPr>
            <a:r>
              <a:rPr lang="en-US" sz="1400" dirty="0">
                <a:solidFill>
                  <a:schemeClr val="tx2"/>
                </a:solidFill>
              </a:rPr>
              <a:t>+0.260 vs rules</a:t>
            </a:r>
            <a:endParaRPr lang="en-US" sz="1400" dirty="0"/>
          </a:p>
        </p:txBody>
      </p:sp>
      <p:sp>
        <p:nvSpPr>
          <p:cNvPr id="7" name="card Why it is secondary"/>
          <p:cNvSpPr/>
          <p:nvPr/>
        </p:nvSpPr>
        <p:spPr>
          <a:xfrm>
            <a:off x="7589520" y="3703320"/>
            <a:ext cx="4023360" cy="2468880"/>
          </a:xfrm>
          <a:prstGeom prst="roundRect">
            <a:avLst>
              <a:gd name="adj" fmla="val 2963"/>
            </a:avLst>
          </a:prstGeom>
          <a:solidFill>
            <a:schemeClr val="bg2"/>
          </a:solidFill>
          <a:ln/>
        </p:spPr>
      </p:sp>
      <p:sp>
        <p:nvSpPr>
          <p:cNvPr id="8" name="Text 5"/>
          <p:cNvSpPr txBox="1"/>
          <p:nvPr/>
        </p:nvSpPr>
        <p:spPr>
          <a:xfrm>
            <a:off x="7772400" y="3840480"/>
            <a:ext cx="3657600" cy="411480"/>
          </a:xfrm>
          <a:prstGeom prst="rect">
            <a:avLst/>
          </a:prstGeom>
          <a:noFill/>
          <a:ln/>
        </p:spPr>
        <p:txBody>
          <a:bodyPr wrap="square" lIns="0" tIns="0" rIns="0" bIns="0" rtlCol="0" anchor="t"/>
          <a:lstStyle/>
          <a:p>
            <a:pPr indent="0" marL="0">
              <a:buNone/>
            </a:pPr>
            <a:r>
              <a:rPr lang="en-US" sz="1600" b="1" dirty="0">
                <a:solidFill>
                  <a:schemeClr val="tx1"/>
                </a:solidFill>
              </a:rPr>
              <a:t>Why it is secondary</a:t>
            </a:r>
            <a:endParaRPr lang="en-US" sz="1600" dirty="0"/>
          </a:p>
        </p:txBody>
      </p:sp>
      <p:sp>
        <p:nvSpPr>
          <p:cNvPr id="9" name="Text 6"/>
          <p:cNvSpPr txBox="1"/>
          <p:nvPr/>
        </p:nvSpPr>
        <p:spPr>
          <a:xfrm>
            <a:off x="7772400" y="4297680"/>
            <a:ext cx="3657600" cy="173736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AUC scores the whole ranking of 330k user-days. Analysts only see the top 10 a day. LOF ranks second here, yet our lead at the top of the queue (precision) is far larger.</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000" b="1" dirty="0">
                <a:solidFill>
                  <a:schemeClr val="tx1"/>
                </a:solidFill>
              </a:rPr>
              <a:t>Runtime: half a second per test window</a:t>
            </a:r>
            <a:endParaRPr lang="en-US" sz="3000" dirty="0"/>
          </a:p>
        </p:txBody>
      </p:sp>
      <p:graphicFrame>
        <p:nvGraphicFramePr>
          <p:cNvPr id="3" name="runtime chart" descr=""/>
          <p:cNvGraphicFramePr/>
          <p:nvPr/>
        </p:nvGraphicFramePr>
        <p:xfrm>
          <a:off x="457200" y="1280160"/>
          <a:ext cx="6766560" cy="4937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772400" y="1371600"/>
            <a:ext cx="3840480" cy="77724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0.5 s</a:t>
            </a:r>
            <a:endParaRPr lang="en-US" sz="4000" dirty="0"/>
          </a:p>
        </p:txBody>
      </p:sp>
      <p:sp>
        <p:nvSpPr>
          <p:cNvPr id="5" name="Text 2"/>
          <p:cNvSpPr txBox="1"/>
          <p:nvPr/>
        </p:nvSpPr>
        <p:spPr>
          <a:xfrm>
            <a:off x="7772400" y="2176272"/>
            <a:ext cx="3840480" cy="548640"/>
          </a:xfrm>
          <a:prstGeom prst="rect">
            <a:avLst/>
          </a:prstGeom>
          <a:noFill/>
          <a:ln/>
        </p:spPr>
        <p:txBody>
          <a:bodyPr wrap="square" lIns="0" tIns="0" rIns="0" bIns="0" rtlCol="0" anchor="t"/>
          <a:lstStyle/>
          <a:p>
            <a:pPr indent="0" marL="0">
              <a:buNone/>
            </a:pPr>
            <a:r>
              <a:rPr lang="en-US" sz="1200" dirty="0">
                <a:solidFill>
                  <a:schemeClr val="tx2"/>
                </a:solidFill>
              </a:rPr>
              <a:t>ours per window</a:t>
            </a:r>
            <a:endParaRPr lang="en-US" sz="1200" dirty="0"/>
          </a:p>
        </p:txBody>
      </p:sp>
      <p:sp>
        <p:nvSpPr>
          <p:cNvPr id="6" name="Text 3"/>
          <p:cNvSpPr txBox="1"/>
          <p:nvPr/>
        </p:nvSpPr>
        <p:spPr>
          <a:xfrm>
            <a:off x="7772400" y="2743200"/>
            <a:ext cx="1828800" cy="77724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17×</a:t>
            </a:r>
            <a:endParaRPr lang="en-US" sz="4000" dirty="0"/>
          </a:p>
        </p:txBody>
      </p:sp>
      <p:sp>
        <p:nvSpPr>
          <p:cNvPr id="7" name="Text 4"/>
          <p:cNvSpPr txBox="1"/>
          <p:nvPr/>
        </p:nvSpPr>
        <p:spPr>
          <a:xfrm>
            <a:off x="7772400" y="3547872"/>
            <a:ext cx="1828800" cy="548640"/>
          </a:xfrm>
          <a:prstGeom prst="rect">
            <a:avLst/>
          </a:prstGeom>
          <a:noFill/>
          <a:ln/>
        </p:spPr>
        <p:txBody>
          <a:bodyPr wrap="square" lIns="0" tIns="0" rIns="0" bIns="0" rtlCol="0" anchor="t"/>
          <a:lstStyle/>
          <a:p>
            <a:pPr indent="0" marL="0">
              <a:buNone/>
            </a:pPr>
            <a:r>
              <a:rPr lang="en-US" sz="1200" dirty="0">
                <a:solidFill>
                  <a:schemeClr val="tx2"/>
                </a:solidFill>
              </a:rPr>
              <a:t>faster than Isolation Forest</a:t>
            </a:r>
            <a:endParaRPr lang="en-US" sz="1200" dirty="0"/>
          </a:p>
        </p:txBody>
      </p:sp>
      <p:sp>
        <p:nvSpPr>
          <p:cNvPr id="8" name="Text 5"/>
          <p:cNvSpPr txBox="1"/>
          <p:nvPr/>
        </p:nvSpPr>
        <p:spPr>
          <a:xfrm>
            <a:off x="9692640" y="2743200"/>
            <a:ext cx="1920240" cy="77724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81×</a:t>
            </a:r>
            <a:endParaRPr lang="en-US" sz="4000" dirty="0"/>
          </a:p>
        </p:txBody>
      </p:sp>
      <p:sp>
        <p:nvSpPr>
          <p:cNvPr id="9" name="Text 6"/>
          <p:cNvSpPr txBox="1"/>
          <p:nvPr/>
        </p:nvSpPr>
        <p:spPr>
          <a:xfrm>
            <a:off x="9692640" y="3547872"/>
            <a:ext cx="1920240" cy="548640"/>
          </a:xfrm>
          <a:prstGeom prst="rect">
            <a:avLst/>
          </a:prstGeom>
          <a:noFill/>
          <a:ln/>
        </p:spPr>
        <p:txBody>
          <a:bodyPr wrap="square" lIns="0" tIns="0" rIns="0" bIns="0" rtlCol="0" anchor="t"/>
          <a:lstStyle/>
          <a:p>
            <a:pPr indent="0" marL="0">
              <a:buNone/>
            </a:pPr>
            <a:r>
              <a:rPr lang="en-US" sz="1200" dirty="0">
                <a:solidFill>
                  <a:schemeClr val="tx2"/>
                </a:solidFill>
              </a:rPr>
              <a:t>faster than LOF</a:t>
            </a:r>
            <a:endParaRPr lang="en-US" sz="1200" dirty="0"/>
          </a:p>
        </p:txBody>
      </p:sp>
      <p:sp>
        <p:nvSpPr>
          <p:cNvPr id="10" name="Text 7"/>
          <p:cNvSpPr txBox="1"/>
          <p:nvPr/>
        </p:nvSpPr>
        <p:spPr>
          <a:xfrm>
            <a:off x="7772400" y="4114800"/>
            <a:ext cx="1828800" cy="77724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44×</a:t>
            </a:r>
            <a:endParaRPr lang="en-US" sz="4000" dirty="0"/>
          </a:p>
        </p:txBody>
      </p:sp>
      <p:sp>
        <p:nvSpPr>
          <p:cNvPr id="11" name="Text 8"/>
          <p:cNvSpPr txBox="1"/>
          <p:nvPr/>
        </p:nvSpPr>
        <p:spPr>
          <a:xfrm>
            <a:off x="7772400" y="4919472"/>
            <a:ext cx="1828800" cy="548640"/>
          </a:xfrm>
          <a:prstGeom prst="rect">
            <a:avLst/>
          </a:prstGeom>
          <a:noFill/>
          <a:ln/>
        </p:spPr>
        <p:txBody>
          <a:bodyPr wrap="square" lIns="0" tIns="0" rIns="0" bIns="0" rtlCol="0" anchor="t"/>
          <a:lstStyle/>
          <a:p>
            <a:pPr indent="0" marL="0">
              <a:buNone/>
            </a:pPr>
            <a:r>
              <a:rPr lang="en-US" sz="1200" dirty="0">
                <a:solidFill>
                  <a:schemeClr val="tx2"/>
                </a:solidFill>
              </a:rPr>
              <a:t>faster than autoencoder</a:t>
            </a:r>
            <a:endParaRPr lang="en-US" sz="1200" dirty="0"/>
          </a:p>
        </p:txBody>
      </p:sp>
      <p:sp>
        <p:nvSpPr>
          <p:cNvPr id="12" name="Text 9"/>
          <p:cNvSpPr txBox="1"/>
          <p:nvPr/>
        </p:nvSpPr>
        <p:spPr>
          <a:xfrm>
            <a:off x="9692640" y="4114800"/>
            <a:ext cx="1920240" cy="777240"/>
          </a:xfrm>
          <a:prstGeom prst="rect">
            <a:avLst/>
          </a:prstGeom>
          <a:noFill/>
          <a:ln/>
        </p:spPr>
        <p:txBody>
          <a:bodyPr wrap="square" lIns="0" tIns="0" rIns="0" bIns="0" rtlCol="0" anchor="b"/>
          <a:lstStyle/>
          <a:p>
            <a:pPr indent="0" marL="0">
              <a:buNone/>
            </a:pPr>
            <a:r>
              <a:rPr lang="en-US" sz="4000" b="1" dirty="0">
                <a:solidFill>
                  <a:schemeClr val="accent2"/>
                </a:solidFill>
                <a:latin typeface="Cambria" pitchFamily="34" charset="0"/>
                <a:ea typeface="Cambria" pitchFamily="34" charset="-122"/>
                <a:cs typeface="Cambria" pitchFamily="34" charset="-120"/>
              </a:rPr>
              <a:t>0.1 s</a:t>
            </a:r>
            <a:endParaRPr lang="en-US" sz="4000" dirty="0"/>
          </a:p>
        </p:txBody>
      </p:sp>
      <p:sp>
        <p:nvSpPr>
          <p:cNvPr id="13" name="Text 10"/>
          <p:cNvSpPr txBox="1"/>
          <p:nvPr/>
        </p:nvSpPr>
        <p:spPr>
          <a:xfrm>
            <a:off x="9692640" y="4919472"/>
            <a:ext cx="1920240" cy="548640"/>
          </a:xfrm>
          <a:prstGeom prst="rect">
            <a:avLst/>
          </a:prstGeom>
          <a:noFill/>
          <a:ln/>
        </p:spPr>
        <p:txBody>
          <a:bodyPr wrap="square" lIns="0" tIns="0" rIns="0" bIns="0" rtlCol="0" anchor="t"/>
          <a:lstStyle/>
          <a:p>
            <a:pPr indent="0" marL="0">
              <a:buNone/>
            </a:pPr>
            <a:r>
              <a:rPr lang="en-US" sz="1200" dirty="0">
                <a:solidFill>
                  <a:schemeClr val="tx2"/>
                </a:solidFill>
              </a:rPr>
              <a:t>rules (no learning)</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97280"/>
          </a:xfrm>
          <a:prstGeom prst="rect">
            <a:avLst/>
          </a:prstGeom>
          <a:noFill/>
          <a:ln/>
        </p:spPr>
        <p:txBody>
          <a:bodyPr wrap="square" rtlCol="0" anchor="b"/>
          <a:lstStyle/>
          <a:p>
            <a:pPr indent="0" marL="0">
              <a:buNone/>
            </a:pPr>
            <a:r>
              <a:rPr lang="en-US" sz="4000" b="1" dirty="0">
                <a:solidFill>
                  <a:schemeClr val="bg1"/>
                </a:solidFill>
              </a:rPr>
              <a:t>Why it works</a:t>
            </a:r>
            <a:endParaRPr lang="en-US" sz="40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nchor="t"/>
          <a:lstStyle/>
          <a:p>
            <a:pPr indent="0" marL="0">
              <a:buNone/>
            </a:pPr>
            <a:r>
              <a:rPr lang="en-US" sz="2000" dirty="0">
                <a:solidFill>
                  <a:schemeClr val="bg2"/>
                </a:solidFill>
              </a:rPr>
              <a:t>Ablation, explanations and the honest caveat</a:t>
            </a:r>
            <a:endParaRPr lang="en-US" sz="2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000" b="1" dirty="0">
                <a:solidFill>
                  <a:schemeClr val="tx1"/>
                </a:solidFill>
              </a:rPr>
              <a:t>Ablation: the per-user baseline carries the gain</a:t>
            </a:r>
            <a:endParaRPr lang="en-US" sz="3000" dirty="0"/>
          </a:p>
        </p:txBody>
      </p:sp>
      <p:graphicFrame>
        <p:nvGraphicFramePr>
          <p:cNvPr id="18" name="ablation table"/>
          <p:cNvGraphicFramePr>
            <a:graphicFrameLocks noGrp="1"/>
          </p:cNvGraphicFramePr>
          <p:nvPr>
            <p:extLst>
              <p:ext uri="{D42A27DB-BD31-4B8C-83A1-F6EECF244321}">
                <p14:modId xmlns:p14="http://schemas.microsoft.com/office/powerpoint/2010/main" val="1579011935"/>
              </p:ext>
            </p:extLst>
          </p:nvPr>
        </p:nvGraphicFramePr>
        <p:xfrm>
          <a:off x="548640" y="1325880"/>
          <a:ext cx="7589520" cy="914400"/>
        </p:xfrm>
        <a:graphic>
          <a:graphicData uri="http://schemas.openxmlformats.org/drawingml/2006/table">
            <a:tbl>
              <a:tblPr/>
              <a:tblGrid>
                <a:gridCol w="3291840"/>
                <a:gridCol w="1828800"/>
                <a:gridCol w="1143000"/>
                <a:gridCol w="1325880"/>
              </a:tblGrid>
              <a:tr h="393192">
                <a:tc>
                  <a:txBody>
                    <a:bodyPr/>
                    <a:lstStyle/>
                    <a:p>
                      <a:pPr indent="0" marL="0">
                        <a:buNone/>
                      </a:pPr>
                      <a:r>
                        <a:rPr lang="en-US" sz="1300" b="1" dirty="0">
                          <a:solidFill>
                            <a:srgbClr val="FFFFFF"/>
                          </a:solidFill>
                        </a:rPr>
                        <a:t>Variant</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300" b="1" dirty="0">
                          <a:solidFill>
                            <a:srgbClr val="FFFFFF"/>
                          </a:solidFill>
                        </a:rPr>
                        <a:t>DR@10 [95% CI]</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300" b="1" dirty="0">
                          <a:solidFill>
                            <a:srgbClr val="FFFFFF"/>
                          </a:solidFill>
                        </a:rPr>
                        <a:t>Precision@10</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300" b="1" dirty="0">
                          <a:solidFill>
                            <a:srgbClr val="FFFFFF"/>
                          </a:solidFill>
                        </a:rPr>
                        <a:t>Precision vs full</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2B3A4F"/>
                    </a:solidFill>
                  </a:tcPr>
                </a:tc>
              </a:tr>
              <a:tr h="393192">
                <a:tc>
                  <a:txBody>
                    <a:bodyPr/>
                    <a:lstStyle/>
                    <a:p>
                      <a:pPr indent="0" marL="0">
                        <a:buNone/>
                      </a:pPr>
                      <a:r>
                        <a:rPr lang="en-US" sz="1300" b="1" dirty="0">
                          <a:solidFill>
                            <a:srgbClr val="16202E"/>
                          </a:solidFill>
                        </a:rPr>
                        <a:t>Full method (tuned, frozen)</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BEBD2"/>
                    </a:solidFill>
                  </a:tcPr>
                </a:tc>
                <a:tc>
                  <a:txBody>
                    <a:bodyPr/>
                    <a:lstStyle/>
                    <a:p>
                      <a:pPr indent="0" marL="0">
                        <a:buNone/>
                      </a:pPr>
                      <a:r>
                        <a:rPr lang="en-US" sz="1300" b="1" dirty="0">
                          <a:solidFill>
                            <a:srgbClr val="16202E"/>
                          </a:solidFill>
                        </a:rPr>
                        <a:t>0.43 [0.28, 0.60]</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BEBD2"/>
                    </a:solidFill>
                  </a:tcPr>
                </a:tc>
                <a:tc>
                  <a:txBody>
                    <a:bodyPr/>
                    <a:lstStyle/>
                    <a:p>
                      <a:pPr indent="0" marL="0">
                        <a:buNone/>
                      </a:pPr>
                      <a:r>
                        <a:rPr lang="en-US" sz="1300" b="1" dirty="0">
                          <a:solidFill>
                            <a:srgbClr val="16202E"/>
                          </a:solidFill>
                        </a:rPr>
                        <a:t>0.028</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BEBD2"/>
                    </a:solidFill>
                  </a:tcPr>
                </a:tc>
                <a:tc>
                  <a:txBody>
                    <a:bodyPr/>
                    <a:lstStyle/>
                    <a:p>
                      <a:pPr indent="0" marL="0">
                        <a:buNone/>
                      </a:pPr>
                      <a:r>
                        <a:rPr lang="en-US" sz="1300" b="1" dirty="0">
                          <a:solidFill>
                            <a:srgbClr val="16202E"/>
                          </a:solidFill>
                        </a:rPr>
                        <a:t>—</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BEBD2"/>
                    </a:solidFill>
                  </a:tcPr>
                </a:tc>
              </a:tr>
              <a:tr h="393192">
                <a:tc>
                  <a:txBody>
                    <a:bodyPr/>
                    <a:lstStyle/>
                    <a:p>
                      <a:pPr indent="0" marL="0">
                        <a:buNone/>
                      </a:pPr>
                      <a:r>
                        <a:rPr lang="en-US" sz="1300" dirty="0">
                          <a:solidFill>
                            <a:srgbClr val="16202E"/>
                          </a:solidFill>
                        </a:rPr>
                        <a:t>− C1: population baseline instead of per-user</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300" dirty="0">
                          <a:solidFill>
                            <a:srgbClr val="16202E"/>
                          </a:solidFill>
                        </a:rPr>
                        <a:t>0.28 [0.14, 0.44]</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300" dirty="0">
                          <a:solidFill>
                            <a:srgbClr val="16202E"/>
                          </a:solidFill>
                        </a:rPr>
                        <a:t>0.007</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300" b="1" dirty="0">
                          <a:solidFill>
                            <a:srgbClr val="C2483A"/>
                          </a:solidFill>
                        </a:rPr>
                        <a:t>−75% (= IF level)</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93192">
                <a:tc>
                  <a:txBody>
                    <a:bodyPr/>
                    <a:lstStyle/>
                    <a:p>
                      <a:pPr indent="0" marL="0">
                        <a:buNone/>
                      </a:pPr>
                      <a:r>
                        <a:rPr lang="en-US" sz="1300" dirty="0">
                          <a:solidFill>
                            <a:srgbClr val="16202E"/>
                          </a:solidFill>
                        </a:rPr>
                        <a:t>− C2: no conformal calibration</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6202E"/>
                          </a:solidFill>
                        </a:rPr>
                        <a:t>0.63 [0.47, 0.79]</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6202E"/>
                          </a:solidFill>
                        </a:rPr>
                        <a:t>0.021</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6202E"/>
                          </a:solidFill>
                        </a:rPr>
                        <a:t>−25%</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93192">
                <a:tc>
                  <a:txBody>
                    <a:bodyPr/>
                    <a:lstStyle/>
                    <a:p>
                      <a:pPr indent="0" marL="0">
                        <a:buNone/>
                      </a:pPr>
                      <a:r>
                        <a:rPr lang="en-US" sz="1300" dirty="0">
                          <a:solidFill>
                            <a:srgbClr val="16202E"/>
                          </a:solidFill>
                        </a:rPr>
                        <a:t>− C3: no family fusion (pooled)</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300" dirty="0">
                          <a:solidFill>
                            <a:srgbClr val="16202E"/>
                          </a:solidFill>
                        </a:rPr>
                        <a:t>0.56 [0.39, 0.72]</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300" dirty="0">
                          <a:solidFill>
                            <a:srgbClr val="16202E"/>
                          </a:solidFill>
                        </a:rPr>
                        <a:t>0.019</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300" dirty="0">
                          <a:solidFill>
                            <a:srgbClr val="16202E"/>
                          </a:solidFill>
                        </a:rPr>
                        <a:t>−32%</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93192">
                <a:tc>
                  <a:txBody>
                    <a:bodyPr/>
                    <a:lstStyle/>
                    <a:p>
                      <a:pPr indent="0" marL="0">
                        <a:buNone/>
                      </a:pPr>
                      <a:r>
                        <a:rPr lang="en-US" sz="1300" dirty="0">
                          <a:solidFill>
                            <a:srgbClr val="16202E"/>
                          </a:solidFill>
                        </a:rPr>
                        <a:t>+ C4: suppress repeat alerts 3 days</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6202E"/>
                          </a:solidFill>
                        </a:rPr>
                        <a:t>0.43 [0.27, 0.58]</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6202E"/>
                          </a:solidFill>
                        </a:rPr>
                        <a:t>0.018</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6202E"/>
                          </a:solidFill>
                        </a:rPr>
                        <a:t>−36%</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93192">
                <a:tc>
                  <a:txBody>
                    <a:bodyPr/>
                    <a:lstStyle/>
                    <a:p>
                      <a:pPr indent="0" marL="0">
                        <a:buNone/>
                      </a:pPr>
                      <a:r>
                        <a:rPr lang="en-US" sz="1300" dirty="0">
                          <a:solidFill>
                            <a:srgbClr val="16202E"/>
                          </a:solidFill>
                        </a:rPr>
                        <a:t>− volume family</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300" dirty="0">
                          <a:solidFill>
                            <a:srgbClr val="16202E"/>
                          </a:solidFill>
                        </a:rPr>
                        <a:t>0.39 [0.24, 0.57]</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300" dirty="0">
                          <a:solidFill>
                            <a:srgbClr val="16202E"/>
                          </a:solidFill>
                        </a:rPr>
                        <a:t>0.009</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300" b="1" dirty="0">
                          <a:solidFill>
                            <a:srgbClr val="C2483A"/>
                          </a:solidFill>
                        </a:rPr>
                        <a:t>−68%</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93192">
                <a:tc>
                  <a:txBody>
                    <a:bodyPr/>
                    <a:lstStyle/>
                    <a:p>
                      <a:pPr indent="0" marL="0">
                        <a:buNone/>
                      </a:pPr>
                      <a:r>
                        <a:rPr lang="en-US" sz="1300" dirty="0">
                          <a:solidFill>
                            <a:srgbClr val="16202E"/>
                          </a:solidFill>
                        </a:rPr>
                        <a:t>− resource family</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6202E"/>
                          </a:solidFill>
                        </a:rPr>
                        <a:t>0.30 [0.17, 0.45]</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6202E"/>
                          </a:solidFill>
                        </a:rPr>
                        <a:t>0.029</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6202E"/>
                          </a:solidFill>
                        </a:rPr>
                        <a:t>+4%</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93192">
                <a:tc>
                  <a:txBody>
                    <a:bodyPr/>
                    <a:lstStyle/>
                    <a:p>
                      <a:pPr indent="0" marL="0">
                        <a:buNone/>
                      </a:pPr>
                      <a:r>
                        <a:rPr lang="en-US" sz="1300" dirty="0">
                          <a:solidFill>
                            <a:srgbClr val="16202E"/>
                          </a:solidFill>
                        </a:rPr>
                        <a:t>− timing family</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300" dirty="0">
                          <a:solidFill>
                            <a:srgbClr val="16202E"/>
                          </a:solidFill>
                        </a:rPr>
                        <a:t>0.49 [0.34, 0.66]</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300" dirty="0">
                          <a:solidFill>
                            <a:srgbClr val="16202E"/>
                          </a:solidFill>
                        </a:rPr>
                        <a:t>0.028</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300" dirty="0">
                          <a:solidFill>
                            <a:srgbClr val="16202E"/>
                          </a:solidFill>
                        </a:rPr>
                        <a:t>0%</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93192">
                <a:tc>
                  <a:txBody>
                    <a:bodyPr/>
                    <a:lstStyle/>
                    <a:p>
                      <a:pPr indent="0" marL="0">
                        <a:buNone/>
                      </a:pPr>
                      <a:r>
                        <a:rPr lang="en-US" sz="1300" dirty="0">
                          <a:solidFill>
                            <a:srgbClr val="16202E"/>
                          </a:solidFill>
                        </a:rPr>
                        <a:t>− identity family</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6202E"/>
                          </a:solidFill>
                        </a:rPr>
                        <a:t>0.55 [0.39, 0.71]</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6202E"/>
                          </a:solidFill>
                        </a:rPr>
                        <a:t>0.034</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b="1" dirty="0">
                          <a:solidFill>
                            <a:srgbClr val="2E8B62"/>
                          </a:solidFill>
                        </a:rPr>
                        <a:t>+21%</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93192">
                <a:tc>
                  <a:txBody>
                    <a:bodyPr/>
                    <a:lstStyle/>
                    <a:p>
                      <a:pPr indent="0" marL="0">
                        <a:buNone/>
                      </a:pPr>
                      <a:r>
                        <a:rPr lang="en-US" sz="1300" dirty="0">
                          <a:solidFill>
                            <a:srgbClr val="16202E"/>
                          </a:solidFill>
                        </a:rPr>
                        <a:t>Fusion: Fisher instead of min-p</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300" dirty="0">
                          <a:solidFill>
                            <a:srgbClr val="16202E"/>
                          </a:solidFill>
                        </a:rPr>
                        <a:t>0.61 [0.45, 0.76]</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300" dirty="0">
                          <a:solidFill>
                            <a:srgbClr val="16202E"/>
                          </a:solidFill>
                        </a:rPr>
                        <a:t>0.025</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6F8FA"/>
                    </a:solidFill>
                  </a:tcPr>
                </a:tc>
                <a:tc>
                  <a:txBody>
                    <a:bodyPr/>
                    <a:lstStyle/>
                    <a:p>
                      <a:pPr indent="0" marL="0">
                        <a:buNone/>
                      </a:pPr>
                      <a:r>
                        <a:rPr lang="en-US" sz="1300" dirty="0">
                          <a:solidFill>
                            <a:srgbClr val="16202E"/>
                          </a:solidFill>
                        </a:rPr>
                        <a:t>−11%</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93192">
                <a:tc>
                  <a:txBody>
                    <a:bodyPr/>
                    <a:lstStyle/>
                    <a:p>
                      <a:pPr indent="0" marL="0">
                        <a:buNone/>
                      </a:pPr>
                      <a:r>
                        <a:rPr lang="en-US" sz="1300" dirty="0">
                          <a:solidFill>
                            <a:srgbClr val="16202E"/>
                          </a:solidFill>
                        </a:rPr>
                        <a:t>Isolation Forest (reference)</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6202E"/>
                          </a:solidFill>
                        </a:rPr>
                        <a:t>0.29 [0.15, 0.45]</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6202E"/>
                          </a:solidFill>
                        </a:rPr>
                        <a:t>0.007</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6202E"/>
                          </a:solidFill>
                        </a:rPr>
                        <a:t>−75%</a:t>
                      </a:r>
                      <a:endParaRPr lang="en-US" sz="1300" dirty="0"/>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bl>
          </a:graphicData>
        </a:graphic>
      </p:graphicFrame>
      <p:sp>
        <p:nvSpPr>
          <p:cNvPr id="4" name="card Main lesson"/>
          <p:cNvSpPr/>
          <p:nvPr/>
        </p:nvSpPr>
        <p:spPr>
          <a:xfrm>
            <a:off x="8412480" y="1325880"/>
            <a:ext cx="3200400" cy="2194560"/>
          </a:xfrm>
          <a:prstGeom prst="roundRect">
            <a:avLst>
              <a:gd name="adj" fmla="val 3333"/>
            </a:avLst>
          </a:prstGeom>
          <a:solidFill>
            <a:schemeClr val="bg2"/>
          </a:solidFill>
          <a:ln/>
        </p:spPr>
      </p:sp>
      <p:sp>
        <p:nvSpPr>
          <p:cNvPr id="5" name="Text 2"/>
          <p:cNvSpPr txBox="1"/>
          <p:nvPr/>
        </p:nvSpPr>
        <p:spPr>
          <a:xfrm>
            <a:off x="8595360" y="1463040"/>
            <a:ext cx="2834640" cy="411480"/>
          </a:xfrm>
          <a:prstGeom prst="rect">
            <a:avLst/>
          </a:prstGeom>
          <a:noFill/>
          <a:ln/>
        </p:spPr>
        <p:txBody>
          <a:bodyPr wrap="square" lIns="0" tIns="0" rIns="0" bIns="0" rtlCol="0" anchor="t"/>
          <a:lstStyle/>
          <a:p>
            <a:pPr indent="0" marL="0">
              <a:buNone/>
            </a:pPr>
            <a:r>
              <a:rPr lang="en-US" sz="1600" b="1" dirty="0">
                <a:solidFill>
                  <a:schemeClr val="accent1"/>
                </a:solidFill>
              </a:rPr>
              <a:t>Main lesson</a:t>
            </a:r>
            <a:endParaRPr lang="en-US" sz="1600" dirty="0"/>
          </a:p>
        </p:txBody>
      </p:sp>
      <p:sp>
        <p:nvSpPr>
          <p:cNvPr id="6" name="Text 3"/>
          <p:cNvSpPr txBox="1"/>
          <p:nvPr/>
        </p:nvSpPr>
        <p:spPr>
          <a:xfrm>
            <a:off x="8595360" y="1920240"/>
            <a:ext cx="2834640" cy="146304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Drop the per-user baseline and precision falls to Isolation Forest's 0.007. That one idea is the method.</a:t>
            </a:r>
            <a:endParaRPr lang="en-US" sz="1400" dirty="0"/>
          </a:p>
        </p:txBody>
      </p:sp>
      <p:sp>
        <p:nvSpPr>
          <p:cNvPr id="7" name="card Honest caveat"/>
          <p:cNvSpPr/>
          <p:nvPr/>
        </p:nvSpPr>
        <p:spPr>
          <a:xfrm>
            <a:off x="8412480" y="3703320"/>
            <a:ext cx="3200400" cy="2468880"/>
          </a:xfrm>
          <a:prstGeom prst="roundRect">
            <a:avLst>
              <a:gd name="adj" fmla="val 2963"/>
            </a:avLst>
          </a:prstGeom>
          <a:solidFill>
            <a:schemeClr val="bg2"/>
          </a:solidFill>
          <a:ln/>
        </p:spPr>
      </p:sp>
      <p:sp>
        <p:nvSpPr>
          <p:cNvPr id="8" name="Text 5"/>
          <p:cNvSpPr txBox="1"/>
          <p:nvPr/>
        </p:nvSpPr>
        <p:spPr>
          <a:xfrm>
            <a:off x="8595360" y="3840480"/>
            <a:ext cx="2834640" cy="411480"/>
          </a:xfrm>
          <a:prstGeom prst="rect">
            <a:avLst/>
          </a:prstGeom>
          <a:noFill/>
          <a:ln/>
        </p:spPr>
        <p:txBody>
          <a:bodyPr wrap="square" lIns="0" tIns="0" rIns="0" bIns="0" rtlCol="0" anchor="t"/>
          <a:lstStyle/>
          <a:p>
            <a:pPr indent="0" marL="0">
              <a:buNone/>
            </a:pPr>
            <a:r>
              <a:rPr lang="en-US" sz="1600" b="1" dirty="0">
                <a:solidFill>
                  <a:schemeClr val="tx1"/>
                </a:solidFill>
              </a:rPr>
              <a:t>Honest caveat</a:t>
            </a:r>
            <a:endParaRPr lang="en-US" sz="1600" dirty="0"/>
          </a:p>
        </p:txBody>
      </p:sp>
      <p:sp>
        <p:nvSpPr>
          <p:cNvPr id="9" name="Text 6"/>
          <p:cNvSpPr txBox="1"/>
          <p:nvPr/>
        </p:nvSpPr>
        <p:spPr>
          <a:xfrm>
            <a:off x="8595360" y="4297680"/>
            <a:ext cx="2834640" cy="173736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Some variants beat the tuned model on test (e.g. no calibration: DR 0.63). We report them but keep the frozen settings: switching now would be peeking.</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000" b="1" dirty="0">
                <a:solidFill>
                  <a:schemeClr val="tx1"/>
                </a:solidFill>
              </a:rPr>
              <a:t>Explanations: the family named predicts which alerts are real</a:t>
            </a:r>
            <a:endParaRPr lang="en-US" sz="3000" dirty="0"/>
          </a:p>
        </p:txBody>
      </p:sp>
      <p:graphicFrame>
        <p:nvGraphicFramePr>
          <p:cNvPr id="3" name="family precision chart" descr=""/>
          <p:cNvGraphicFramePr/>
          <p:nvPr/>
        </p:nvGraphicFramePr>
        <p:xfrm>
          <a:off x="457200" y="1280160"/>
          <a:ext cx="6766560" cy="4937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772400" y="1371600"/>
            <a:ext cx="3840480" cy="77724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3.7×</a:t>
            </a:r>
            <a:endParaRPr lang="en-US" sz="4000" dirty="0"/>
          </a:p>
        </p:txBody>
      </p:sp>
      <p:sp>
        <p:nvSpPr>
          <p:cNvPr id="5" name="Text 2"/>
          <p:cNvSpPr txBox="1"/>
          <p:nvPr/>
        </p:nvSpPr>
        <p:spPr>
          <a:xfrm>
            <a:off x="7772400" y="2176272"/>
            <a:ext cx="3840480" cy="548640"/>
          </a:xfrm>
          <a:prstGeom prst="rect">
            <a:avLst/>
          </a:prstGeom>
          <a:noFill/>
          <a:ln/>
        </p:spPr>
        <p:txBody>
          <a:bodyPr wrap="square" lIns="0" tIns="0" rIns="0" bIns="0" rtlCol="0" anchor="t"/>
          <a:lstStyle/>
          <a:p>
            <a:pPr indent="0" marL="0">
              <a:buNone/>
            </a:pPr>
            <a:r>
              <a:rPr lang="en-US" sz="1200" dirty="0">
                <a:solidFill>
                  <a:schemeClr val="tx2"/>
                </a:solidFill>
              </a:rPr>
              <a:t>volume-explained alerts vs all alerts (10.7% vs 2.9%)</a:t>
            </a:r>
            <a:endParaRPr lang="en-US" sz="1200" dirty="0"/>
          </a:p>
        </p:txBody>
      </p:sp>
      <p:sp>
        <p:nvSpPr>
          <p:cNvPr id="6" name="Text 3"/>
          <p:cNvSpPr txBox="1"/>
          <p:nvPr/>
        </p:nvSpPr>
        <p:spPr>
          <a:xfrm>
            <a:off x="7772400" y="2743200"/>
            <a:ext cx="3840480" cy="77724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78%</a:t>
            </a:r>
            <a:endParaRPr lang="en-US" sz="4000" dirty="0"/>
          </a:p>
        </p:txBody>
      </p:sp>
      <p:sp>
        <p:nvSpPr>
          <p:cNvPr id="7" name="Text 4"/>
          <p:cNvSpPr txBox="1"/>
          <p:nvPr/>
        </p:nvSpPr>
        <p:spPr>
          <a:xfrm>
            <a:off x="7772400" y="3547872"/>
            <a:ext cx="3840480" cy="548640"/>
          </a:xfrm>
          <a:prstGeom prst="rect">
            <a:avLst/>
          </a:prstGeom>
          <a:noFill/>
          <a:ln/>
        </p:spPr>
        <p:txBody>
          <a:bodyPr wrap="square" lIns="0" tIns="0" rIns="0" bIns="0" rtlCol="0" anchor="t"/>
          <a:lstStyle/>
          <a:p>
            <a:pPr indent="0" marL="0">
              <a:buNone/>
            </a:pPr>
            <a:r>
              <a:rPr lang="en-US" sz="1200" dirty="0">
                <a:solidFill>
                  <a:schemeClr val="tx2"/>
                </a:solidFill>
              </a:rPr>
              <a:t>of all true alerts are volume-explained</a:t>
            </a:r>
            <a:endParaRPr lang="en-US" sz="1200" dirty="0"/>
          </a:p>
        </p:txBody>
      </p:sp>
      <p:sp>
        <p:nvSpPr>
          <p:cNvPr id="8" name="Text 5"/>
          <p:cNvSpPr txBox="1"/>
          <p:nvPr/>
        </p:nvSpPr>
        <p:spPr>
          <a:xfrm>
            <a:off x="7772400" y="4114800"/>
            <a:ext cx="3840480" cy="777240"/>
          </a:xfrm>
          <a:prstGeom prst="rect">
            <a:avLst/>
          </a:prstGeom>
          <a:noFill/>
          <a:ln/>
        </p:spPr>
        <p:txBody>
          <a:bodyPr wrap="square" lIns="0" tIns="0" rIns="0" bIns="0" rtlCol="0" anchor="b"/>
          <a:lstStyle/>
          <a:p>
            <a:pPr indent="0" marL="0">
              <a:buNone/>
            </a:pPr>
            <a:r>
              <a:rPr lang="en-US" sz="4000" b="1" dirty="0">
                <a:solidFill>
                  <a:schemeClr val="accent2"/>
                </a:solidFill>
                <a:latin typeface="Cambria" pitchFamily="34" charset="0"/>
                <a:ea typeface="Cambria" pitchFamily="34" charset="-122"/>
                <a:cs typeface="Cambria" pitchFamily="34" charset="-120"/>
              </a:rPr>
              <a:t>20 / 20</a:t>
            </a:r>
            <a:endParaRPr lang="en-US" sz="4000" dirty="0"/>
          </a:p>
        </p:txBody>
      </p:sp>
      <p:sp>
        <p:nvSpPr>
          <p:cNvPr id="9" name="Text 6"/>
          <p:cNvSpPr txBox="1"/>
          <p:nvPr/>
        </p:nvSpPr>
        <p:spPr>
          <a:xfrm>
            <a:off x="7772400" y="4919472"/>
            <a:ext cx="3840480" cy="548640"/>
          </a:xfrm>
          <a:prstGeom prst="rect">
            <a:avLst/>
          </a:prstGeom>
          <a:noFill/>
          <a:ln/>
        </p:spPr>
        <p:txBody>
          <a:bodyPr wrap="square" lIns="0" tIns="0" rIns="0" bIns="0" rtlCol="0" anchor="t"/>
          <a:lstStyle/>
          <a:p>
            <a:pPr indent="0" marL="0">
              <a:buNone/>
            </a:pPr>
            <a:r>
              <a:rPr lang="en-US" sz="1200" dirty="0">
                <a:solidFill>
                  <a:schemeClr val="tx2"/>
                </a:solidFill>
              </a:rPr>
              <a:t>alerts where SHAP's top feature agreed with our explanation</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000" b="1" dirty="0">
                <a:solidFill>
                  <a:schemeClr val="tx1"/>
                </a:solidFill>
              </a:rPr>
              <a:t>Validation vs test: our detection rate fell 36 points</a:t>
            </a:r>
            <a:endParaRPr lang="en-US" sz="3000" dirty="0"/>
          </a:p>
        </p:txBody>
      </p:sp>
      <p:graphicFrame>
        <p:nvGraphicFramePr>
          <p:cNvPr id="3" name="validation vs test chart" descr=""/>
          <p:cNvGraphicFramePr/>
          <p:nvPr/>
        </p:nvGraphicFramePr>
        <p:xfrm>
          <a:off x="457200" y="1280160"/>
          <a:ext cx="6949440" cy="4937760"/>
        </p:xfrm>
        <a:graphic xmlns:a="http://schemas.openxmlformats.org/drawingml/2006/main">
          <a:graphicData uri="http://schemas.openxmlformats.org/drawingml/2006/chart">
            <c:chart xmlns:c="http://schemas.openxmlformats.org/drawingml/2006/chart" r:id="rId1"/>
          </a:graphicData>
        </a:graphic>
      </p:graphicFrame>
      <p:sp>
        <p:nvSpPr>
          <p:cNvPr id="4" name="card Ours: big drop"/>
          <p:cNvSpPr/>
          <p:nvPr/>
        </p:nvSpPr>
        <p:spPr>
          <a:xfrm>
            <a:off x="7680960" y="1417320"/>
            <a:ext cx="3931920" cy="2194560"/>
          </a:xfrm>
          <a:prstGeom prst="roundRect">
            <a:avLst>
              <a:gd name="adj" fmla="val 3333"/>
            </a:avLst>
          </a:prstGeom>
          <a:solidFill>
            <a:schemeClr val="bg2"/>
          </a:solidFill>
          <a:ln/>
        </p:spPr>
      </p:sp>
      <p:sp>
        <p:nvSpPr>
          <p:cNvPr id="5" name="Text 2"/>
          <p:cNvSpPr txBox="1"/>
          <p:nvPr/>
        </p:nvSpPr>
        <p:spPr>
          <a:xfrm>
            <a:off x="7863840" y="1554480"/>
            <a:ext cx="3566160" cy="411480"/>
          </a:xfrm>
          <a:prstGeom prst="rect">
            <a:avLst/>
          </a:prstGeom>
          <a:noFill/>
          <a:ln/>
        </p:spPr>
        <p:txBody>
          <a:bodyPr wrap="square" lIns="0" tIns="0" rIns="0" bIns="0" rtlCol="0" anchor="t"/>
          <a:lstStyle/>
          <a:p>
            <a:pPr indent="0" marL="0">
              <a:buNone/>
            </a:pPr>
            <a:r>
              <a:rPr lang="en-US" sz="1600" b="1" dirty="0">
                <a:solidFill>
                  <a:schemeClr val="tx1"/>
                </a:solidFill>
              </a:rPr>
              <a:t>Ours: big drop</a:t>
            </a:r>
            <a:endParaRPr lang="en-US" sz="1600" dirty="0"/>
          </a:p>
        </p:txBody>
      </p:sp>
      <p:sp>
        <p:nvSpPr>
          <p:cNvPr id="6" name="Text 3"/>
          <p:cNvSpPr txBox="1"/>
          <p:nvPr/>
        </p:nvSpPr>
        <p:spPr>
          <a:xfrm>
            <a:off x="7863840" y="2011680"/>
            <a:ext cx="3566160" cy="146304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DR 0.79 → 0.43 (−36 pts)</a:t>
            </a:r>
            <a:endParaRPr lang="en-US" sz="1400" dirty="0"/>
          </a:p>
          <a:p>
            <a:pPr indent="0" marL="0">
              <a:spcAft>
                <a:spcPts val="400"/>
              </a:spcAft>
              <a:buNone/>
            </a:pPr>
            <a:r>
              <a:rPr lang="en-US" sz="1400" dirty="0">
                <a:solidFill>
                  <a:schemeClr val="tx2"/>
                </a:solidFill>
              </a:rPr>
              <a:t>Precision 0.098 → 0.028 (−71%)</a:t>
            </a:r>
            <a:endParaRPr lang="en-US" sz="1400" dirty="0"/>
          </a:p>
        </p:txBody>
      </p:sp>
      <p:sp>
        <p:nvSpPr>
          <p:cNvPr id="7" name="card What it means"/>
          <p:cNvSpPr/>
          <p:nvPr/>
        </p:nvSpPr>
        <p:spPr>
          <a:xfrm>
            <a:off x="7680960" y="3794760"/>
            <a:ext cx="3931920" cy="2377440"/>
          </a:xfrm>
          <a:prstGeom prst="roundRect">
            <a:avLst>
              <a:gd name="adj" fmla="val 3077"/>
            </a:avLst>
          </a:prstGeom>
          <a:solidFill>
            <a:schemeClr val="bg2"/>
          </a:solidFill>
          <a:ln/>
        </p:spPr>
      </p:sp>
      <p:sp>
        <p:nvSpPr>
          <p:cNvPr id="8" name="Text 5"/>
          <p:cNvSpPr txBox="1"/>
          <p:nvPr/>
        </p:nvSpPr>
        <p:spPr>
          <a:xfrm>
            <a:off x="7863840" y="3931920"/>
            <a:ext cx="3566160" cy="411480"/>
          </a:xfrm>
          <a:prstGeom prst="rect">
            <a:avLst/>
          </a:prstGeom>
          <a:noFill/>
          <a:ln/>
        </p:spPr>
        <p:txBody>
          <a:bodyPr wrap="square" lIns="0" tIns="0" rIns="0" bIns="0" rtlCol="0" anchor="t"/>
          <a:lstStyle/>
          <a:p>
            <a:pPr indent="0" marL="0">
              <a:buNone/>
            </a:pPr>
            <a:r>
              <a:rPr lang="en-US" sz="1600" b="1" dirty="0">
                <a:solidFill>
                  <a:schemeClr val="tx1"/>
                </a:solidFill>
              </a:rPr>
              <a:t>What it means</a:t>
            </a:r>
            <a:endParaRPr lang="en-US" sz="1600" dirty="0"/>
          </a:p>
        </p:txBody>
      </p:sp>
      <p:sp>
        <p:nvSpPr>
          <p:cNvPr id="9" name="Text 6"/>
          <p:cNvSpPr txBox="1"/>
          <p:nvPr/>
        </p:nvSpPr>
        <p:spPr>
          <a:xfrm>
            <a:off x="7863840" y="4389120"/>
            <a:ext cx="3566160" cy="164592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Settings picked on the early months did not fully carry over (drift). Test numbers are the honest ones; we never re-tuned on them.</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000" b="1" dirty="0">
                <a:solidFill>
                  <a:schemeClr val="tx1"/>
                </a:solidFill>
              </a:rPr>
              <a:t>Summary: where we win, tie and lose, and by how much</a:t>
            </a:r>
            <a:endParaRPr lang="en-US" sz="3000" dirty="0"/>
          </a:p>
        </p:txBody>
      </p:sp>
      <p:sp>
        <p:nvSpPr>
          <p:cNvPr id="3" name="card Win"/>
          <p:cNvSpPr/>
          <p:nvPr/>
        </p:nvSpPr>
        <p:spPr>
          <a:xfrm>
            <a:off x="548640" y="1371600"/>
            <a:ext cx="3611880" cy="4800600"/>
          </a:xfrm>
          <a:prstGeom prst="roundRect">
            <a:avLst>
              <a:gd name="adj" fmla="val 2025"/>
            </a:avLst>
          </a:prstGeom>
          <a:solidFill>
            <a:schemeClr val="bg2"/>
          </a:solidFill>
          <a:ln/>
        </p:spPr>
      </p:sp>
      <p:sp>
        <p:nvSpPr>
          <p:cNvPr id="4" name="Text 2"/>
          <p:cNvSpPr txBox="1"/>
          <p:nvPr/>
        </p:nvSpPr>
        <p:spPr>
          <a:xfrm>
            <a:off x="731520" y="1508760"/>
            <a:ext cx="3246120" cy="411480"/>
          </a:xfrm>
          <a:prstGeom prst="rect">
            <a:avLst/>
          </a:prstGeom>
          <a:noFill/>
          <a:ln/>
        </p:spPr>
        <p:txBody>
          <a:bodyPr wrap="square" lIns="0" tIns="0" rIns="0" bIns="0" rtlCol="0" anchor="t"/>
          <a:lstStyle/>
          <a:p>
            <a:pPr indent="0" marL="0">
              <a:buNone/>
            </a:pPr>
            <a:r>
              <a:rPr lang="en-US" sz="2000" b="1" dirty="0">
                <a:solidFill>
                  <a:schemeClr val="accent3"/>
                </a:solidFill>
              </a:rPr>
              <a:t>Win</a:t>
            </a:r>
            <a:endParaRPr lang="en-US" sz="2000" dirty="0"/>
          </a:p>
        </p:txBody>
      </p:sp>
      <p:sp>
        <p:nvSpPr>
          <p:cNvPr id="5" name="Text 3"/>
          <p:cNvSpPr txBox="1"/>
          <p:nvPr/>
        </p:nvSpPr>
        <p:spPr>
          <a:xfrm>
            <a:off x="731520" y="1965960"/>
            <a:ext cx="3246120" cy="4069080"/>
          </a:xfrm>
          <a:prstGeom prst="rect">
            <a:avLst/>
          </a:prstGeom>
          <a:noFill/>
          <a:ln/>
        </p:spPr>
        <p:txBody>
          <a:bodyPr wrap="square" lIns="0" tIns="0" rIns="0" bIns="0" rtlCol="0" anchor="t"/>
          <a:lstStyle/>
          <a:p>
            <a:pPr indent="0" marL="0">
              <a:spcAft>
                <a:spcPts val="1200"/>
              </a:spcAft>
              <a:buNone/>
            </a:pPr>
            <a:r>
              <a:rPr lang="en-US" sz="1700" dirty="0">
                <a:solidFill>
                  <a:schemeClr val="tx2"/>
                </a:solidFill>
              </a:rPr>
              <a:t>Precision@10: 4× Isolation Forest (+329%, H1b supported); 2–2.8× the others</a:t>
            </a:r>
            <a:endParaRPr lang="en-US" sz="1700" dirty="0"/>
          </a:p>
          <a:p>
            <a:pPr indent="0" marL="0">
              <a:spcAft>
                <a:spcPts val="1200"/>
              </a:spcAft>
              <a:buNone/>
            </a:pPr>
            <a:r>
              <a:rPr lang="en-US" sz="1700" dirty="0">
                <a:solidFill>
                  <a:schemeClr val="tx2"/>
                </a:solidFill>
              </a:rPr>
              <a:t>Precision highest at 10, 50 and 100/day</a:t>
            </a:r>
            <a:endParaRPr lang="en-US" sz="1700" dirty="0"/>
          </a:p>
          <a:p>
            <a:pPr indent="0" marL="0">
              <a:spcAft>
                <a:spcPts val="1200"/>
              </a:spcAft>
              <a:buNone/>
            </a:pPr>
            <a:r>
              <a:rPr lang="en-US" sz="1700" dirty="0">
                <a:solidFill>
                  <a:schemeClr val="tx2"/>
                </a:solidFill>
              </a:rPr>
              <a:t>DR@50: 92% vs 65% (+27 pts)</a:t>
            </a:r>
            <a:endParaRPr lang="en-US" sz="1700" dirty="0"/>
          </a:p>
          <a:p>
            <a:pPr indent="0" marL="0">
              <a:spcAft>
                <a:spcPts val="1200"/>
              </a:spcAft>
              <a:buNone/>
            </a:pPr>
            <a:r>
              <a:rPr lang="en-US" sz="1700" dirty="0">
                <a:solidFill>
                  <a:schemeClr val="tx2"/>
                </a:solidFill>
              </a:rPr>
              <a:t>S2 job-hunt cases: 0.33 vs 0.03</a:t>
            </a:r>
            <a:endParaRPr lang="en-US" sz="1700" dirty="0"/>
          </a:p>
          <a:p>
            <a:pPr indent="0" marL="0">
              <a:spcAft>
                <a:spcPts val="1200"/>
              </a:spcAft>
              <a:buNone/>
            </a:pPr>
            <a:r>
              <a:rPr lang="en-US" sz="1700" dirty="0">
                <a:solidFill>
                  <a:schemeClr val="tx2"/>
                </a:solidFill>
              </a:rPr>
              <a:t>AUC 0.850, highest</a:t>
            </a:r>
            <a:endParaRPr lang="en-US" sz="1700" dirty="0"/>
          </a:p>
          <a:p>
            <a:pPr indent="0" marL="0">
              <a:spcAft>
                <a:spcPts val="1200"/>
              </a:spcAft>
              <a:buNone/>
            </a:pPr>
            <a:r>
              <a:rPr lang="en-US" sz="1700" dirty="0">
                <a:solidFill>
                  <a:schemeClr val="tx2"/>
                </a:solidFill>
              </a:rPr>
              <a:t>Runtime 0.5 s, 17–81× faster than ML baselines</a:t>
            </a:r>
            <a:endParaRPr lang="en-US" sz="1700" dirty="0"/>
          </a:p>
        </p:txBody>
      </p:sp>
      <p:sp>
        <p:nvSpPr>
          <p:cNvPr id="6" name="card Tie"/>
          <p:cNvSpPr/>
          <p:nvPr/>
        </p:nvSpPr>
        <p:spPr>
          <a:xfrm>
            <a:off x="4288536" y="1371600"/>
            <a:ext cx="3611880" cy="4800600"/>
          </a:xfrm>
          <a:prstGeom prst="roundRect">
            <a:avLst>
              <a:gd name="adj" fmla="val 2025"/>
            </a:avLst>
          </a:prstGeom>
          <a:solidFill>
            <a:schemeClr val="bg2"/>
          </a:solidFill>
          <a:ln/>
        </p:spPr>
      </p:sp>
      <p:sp>
        <p:nvSpPr>
          <p:cNvPr id="7" name="Text 5"/>
          <p:cNvSpPr txBox="1"/>
          <p:nvPr/>
        </p:nvSpPr>
        <p:spPr>
          <a:xfrm>
            <a:off x="4471416" y="1508760"/>
            <a:ext cx="3246120" cy="411480"/>
          </a:xfrm>
          <a:prstGeom prst="rect">
            <a:avLst/>
          </a:prstGeom>
          <a:noFill/>
          <a:ln/>
        </p:spPr>
        <p:txBody>
          <a:bodyPr wrap="square" lIns="0" tIns="0" rIns="0" bIns="0" rtlCol="0" anchor="t"/>
          <a:lstStyle/>
          <a:p>
            <a:pPr indent="0" marL="0">
              <a:buNone/>
            </a:pPr>
            <a:r>
              <a:rPr lang="en-US" sz="2000" b="1" dirty="0">
                <a:solidFill>
                  <a:schemeClr val="accent2"/>
                </a:solidFill>
              </a:rPr>
              <a:t>Tie</a:t>
            </a:r>
            <a:endParaRPr lang="en-US" sz="2000" dirty="0"/>
          </a:p>
        </p:txBody>
      </p:sp>
      <p:sp>
        <p:nvSpPr>
          <p:cNvPr id="8" name="Text 6"/>
          <p:cNvSpPr txBox="1"/>
          <p:nvPr/>
        </p:nvSpPr>
        <p:spPr>
          <a:xfrm>
            <a:off x="4471416" y="1965960"/>
            <a:ext cx="3246120" cy="4069080"/>
          </a:xfrm>
          <a:prstGeom prst="rect">
            <a:avLst/>
          </a:prstGeom>
          <a:noFill/>
          <a:ln/>
        </p:spPr>
        <p:txBody>
          <a:bodyPr wrap="square" lIns="0" tIns="0" rIns="0" bIns="0" rtlCol="0" anchor="t"/>
          <a:lstStyle/>
          <a:p>
            <a:pPr indent="0" marL="0">
              <a:spcAft>
                <a:spcPts val="1200"/>
              </a:spcAft>
              <a:buNone/>
            </a:pPr>
            <a:r>
              <a:rPr lang="en-US" sz="1700" dirty="0">
                <a:solidFill>
                  <a:schemeClr val="tx2"/>
                </a:solidFill>
              </a:rPr>
              <a:t>DR@10 vs LOF / autoencoder (−2 / −1 pts)</a:t>
            </a:r>
            <a:endParaRPr lang="en-US" sz="1700" dirty="0"/>
          </a:p>
          <a:p>
            <a:pPr indent="0" marL="0">
              <a:spcAft>
                <a:spcPts val="1200"/>
              </a:spcAft>
              <a:buNone/>
            </a:pPr>
            <a:r>
              <a:rPr lang="en-US" sz="1700" dirty="0">
                <a:solidFill>
                  <a:schemeClr val="tx2"/>
                </a:solidFill>
              </a:rPr>
              <a:t>DR@10 vs Isolation Forest: +15 pts but CI includes 0 (H1a not supported)</a:t>
            </a:r>
            <a:endParaRPr lang="en-US" sz="1700" dirty="0"/>
          </a:p>
          <a:p>
            <a:pPr indent="0" marL="0">
              <a:spcAft>
                <a:spcPts val="1200"/>
              </a:spcAft>
              <a:buNone/>
            </a:pPr>
            <a:r>
              <a:rPr lang="en-US" sz="1700" dirty="0">
                <a:solidFill>
                  <a:schemeClr val="tx2"/>
                </a:solidFill>
              </a:rPr>
              <a:t>Time to detection vs Isolation Forest: both same-day</a:t>
            </a:r>
            <a:endParaRPr lang="en-US" sz="1700" dirty="0"/>
          </a:p>
          <a:p>
            <a:pPr indent="0" marL="0">
              <a:spcAft>
                <a:spcPts val="1200"/>
              </a:spcAft>
              <a:buNone/>
            </a:pPr>
            <a:r>
              <a:rPr lang="en-US" sz="1700" dirty="0">
                <a:solidFill>
                  <a:schemeClr val="tx2"/>
                </a:solidFill>
              </a:rPr>
              <a:t>S1 and S3 scenarios</a:t>
            </a:r>
            <a:endParaRPr lang="en-US" sz="1700" dirty="0"/>
          </a:p>
        </p:txBody>
      </p:sp>
      <p:sp>
        <p:nvSpPr>
          <p:cNvPr id="9" name="card Lose / open"/>
          <p:cNvSpPr/>
          <p:nvPr/>
        </p:nvSpPr>
        <p:spPr>
          <a:xfrm>
            <a:off x="8028432" y="1371600"/>
            <a:ext cx="3611880" cy="4800600"/>
          </a:xfrm>
          <a:prstGeom prst="roundRect">
            <a:avLst>
              <a:gd name="adj" fmla="val 2025"/>
            </a:avLst>
          </a:prstGeom>
          <a:solidFill>
            <a:schemeClr val="bg2"/>
          </a:solidFill>
          <a:ln/>
        </p:spPr>
      </p:sp>
      <p:sp>
        <p:nvSpPr>
          <p:cNvPr id="10" name="Text 8"/>
          <p:cNvSpPr txBox="1"/>
          <p:nvPr/>
        </p:nvSpPr>
        <p:spPr>
          <a:xfrm>
            <a:off x="8211312" y="1508760"/>
            <a:ext cx="3246120" cy="411480"/>
          </a:xfrm>
          <a:prstGeom prst="rect">
            <a:avLst/>
          </a:prstGeom>
          <a:noFill/>
          <a:ln/>
        </p:spPr>
        <p:txBody>
          <a:bodyPr wrap="square" lIns="0" tIns="0" rIns="0" bIns="0" rtlCol="0" anchor="t"/>
          <a:lstStyle/>
          <a:p>
            <a:pPr indent="0" marL="0">
              <a:buNone/>
            </a:pPr>
            <a:r>
              <a:rPr lang="en-US" sz="2000" b="1" dirty="0">
                <a:solidFill>
                  <a:schemeClr val="accent4"/>
                </a:solidFill>
              </a:rPr>
              <a:t>Lose / open</a:t>
            </a:r>
            <a:endParaRPr lang="en-US" sz="2000" dirty="0"/>
          </a:p>
        </p:txBody>
      </p:sp>
      <p:sp>
        <p:nvSpPr>
          <p:cNvPr id="11" name="Text 9"/>
          <p:cNvSpPr txBox="1"/>
          <p:nvPr/>
        </p:nvSpPr>
        <p:spPr>
          <a:xfrm>
            <a:off x="8211312" y="1965960"/>
            <a:ext cx="3246120" cy="4069080"/>
          </a:xfrm>
          <a:prstGeom prst="rect">
            <a:avLst/>
          </a:prstGeom>
          <a:noFill/>
          <a:ln/>
        </p:spPr>
        <p:txBody>
          <a:bodyPr wrap="square" lIns="0" tIns="0" rIns="0" bIns="0" rtlCol="0" anchor="t"/>
          <a:lstStyle/>
          <a:p>
            <a:pPr indent="0" marL="0">
              <a:spcAft>
                <a:spcPts val="1200"/>
              </a:spcAft>
              <a:buNone/>
            </a:pPr>
            <a:r>
              <a:rPr lang="en-US" sz="1700" dirty="0">
                <a:solidFill>
                  <a:schemeClr val="tx2"/>
                </a:solidFill>
              </a:rPr>
              <a:t>Median time to detection 23 h vs 16 h for Isolation Forest (H2 not supported)</a:t>
            </a:r>
            <a:endParaRPr lang="en-US" sz="1700" dirty="0"/>
          </a:p>
          <a:p>
            <a:pPr indent="0" marL="0">
              <a:spcAft>
                <a:spcPts val="1200"/>
              </a:spcAft>
              <a:buNone/>
            </a:pPr>
            <a:r>
              <a:rPr lang="en-US" sz="1700" dirty="0">
                <a:solidFill>
                  <a:schemeClr val="tx2"/>
                </a:solidFill>
              </a:rPr>
              <a:t>DR@100: 0.93 vs 0.95 for Isolation Forest</a:t>
            </a:r>
            <a:endParaRPr lang="en-US" sz="1700" dirty="0"/>
          </a:p>
          <a:p>
            <a:pPr indent="0" marL="0">
              <a:spcAft>
                <a:spcPts val="1200"/>
              </a:spcAft>
              <a:buNone/>
            </a:pPr>
            <a:r>
              <a:rPr lang="en-US" sz="1700" dirty="0">
                <a:solidFill>
                  <a:schemeClr val="tx2"/>
                </a:solidFill>
              </a:rPr>
              <a:t>Validation → test drop of 36 pts in DR</a:t>
            </a:r>
            <a:endParaRPr lang="en-US" sz="1700" dirty="0"/>
          </a:p>
          <a:p>
            <a:pPr indent="0" marL="0">
              <a:spcAft>
                <a:spcPts val="1200"/>
              </a:spcAft>
              <a:buNone/>
            </a:pPr>
            <a:r>
              <a:rPr lang="en-US" sz="1700" dirty="0">
                <a:solidFill>
                  <a:schemeClr val="tx2"/>
                </a:solidFill>
              </a:rPr>
              <a:t>H3 human triage: pending verified responses</a:t>
            </a:r>
            <a:endParaRPr lang="en-US" sz="17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P20 Signal">
  <a:themeElements>
    <a:clrScheme name="P20 Signal">
      <a:dk1>
        <a:srgbClr val="16202E"/>
      </a:dk1>
      <a:lt1>
        <a:srgbClr val="FFFFFF"/>
      </a:lt1>
      <a:dk2>
        <a:srgbClr val="2B3A4F"/>
      </a:dk2>
      <a:lt2>
        <a:srgbClr val="EEF1F5"/>
      </a:lt2>
      <a:accent1>
        <a:srgbClr val="E39B2D"/>
      </a:accent1>
      <a:accent2>
        <a:srgbClr val="3F6496"/>
      </a:accent2>
      <a:accent3>
        <a:srgbClr val="2E8B62"/>
      </a:accent3>
      <a:accent4>
        <a:srgbClr val="C2483A"/>
      </a:accent4>
      <a:accent5>
        <a:srgbClr val="8A9AB0"/>
      </a:accent5>
      <a:accent6>
        <a:srgbClr val="C5CCD6"/>
      </a:accent6>
      <a:hlink>
        <a:srgbClr val="3F6496"/>
      </a:hlink>
      <a:folHlink>
        <a:srgbClr val="6B5B95"/>
      </a:folHlink>
    </a:clrScheme>
    <a:fontScheme name="P20 Sig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BudgetAwareConformal: comparison metrics</dc:title>
  <dc:subject>PptxGenJS Presentation</dc:subject>
  <dc:creator>PptxGenJS</dc:creator>
  <cp:lastModifiedBy>PptxGenJS</cp:lastModifiedBy>
  <cp:revision>1</cp:revision>
  <dcterms:created xsi:type="dcterms:W3CDTF">2026-10-28T07:02:33Z</dcterms:created>
  <dcterms:modified xsi:type="dcterms:W3CDTF">2026-10-28T07:02:33Z</dcterms:modified>
</cp:coreProperties>
</file>